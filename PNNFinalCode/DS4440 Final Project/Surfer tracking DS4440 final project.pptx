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Agrandir Grand Heavy" panose="020B0604020202020204" charset="0"/>
      <p:regular r:id="rId25"/>
    </p:embeddedFont>
    <p:embeddedFont>
      <p:font typeface="Agrandir Narrow" panose="020B0604020202020204" charset="0"/>
      <p:regular r:id="rId26"/>
    </p:embeddedFont>
    <p:embeddedFont>
      <p:font typeface="Agrandir Narrow Bold" panose="020B0604020202020204" charset="0"/>
      <p:regular r:id="rId27"/>
    </p:embeddedFont>
    <p:embeddedFont>
      <p:font typeface="Agrandir Narrow Medium" panose="020B0604020202020204" charset="0"/>
      <p:regular r:id="rId28"/>
    </p:embeddedFont>
    <p:embeddedFont>
      <p:font typeface="Agrandir Wide Medium" panose="020B0604020202020204" charset="0"/>
      <p:regular r:id="rId29"/>
    </p:embeddedFont>
    <p:embeddedFont>
      <p:font typeface="Canva Sans" panose="020B0604020202020204" charset="0"/>
      <p:regular r:id="rId30"/>
    </p:embeddedFont>
    <p:embeddedFont>
      <p:font typeface="Canva Sans Bold" panose="020B0604020202020204" charset="0"/>
      <p:regular r:id="rId31"/>
    </p:embeddedFont>
    <p:embeddedFont>
      <p:font typeface="Inter" panose="020B0604020202020204" charset="0"/>
      <p:regular r:id="rId32"/>
    </p:embeddedFont>
    <p:embeddedFont>
      <p:font typeface="Inter Bold" panose="020B0604020202020204" charset="0"/>
      <p:regular r:id="rId33"/>
    </p:embeddedFont>
    <p:embeddedFont>
      <p:font typeface="Inter Medium"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9B3449-C742-76F6-51B4-3072EA20DDA2}" v="3" dt="2025-04-15T12:24:06.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em Shak" userId="S::shak.w@northeastern.edu::fed3b380-97c1-489c-a74d-d34321d52906" providerId="AD" clId="Web-{EA9B3449-C742-76F6-51B4-3072EA20DDA2}"/>
    <pc:docChg chg="modSld">
      <pc:chgData name="Willem Shak" userId="S::shak.w@northeastern.edu::fed3b380-97c1-489c-a74d-d34321d52906" providerId="AD" clId="Web-{EA9B3449-C742-76F6-51B4-3072EA20DDA2}" dt="2025-04-15T12:24:02.713" v="1" actId="14100"/>
      <pc:docMkLst>
        <pc:docMk/>
      </pc:docMkLst>
      <pc:sldChg chg="modSp">
        <pc:chgData name="Willem Shak" userId="S::shak.w@northeastern.edu::fed3b380-97c1-489c-a74d-d34321d52906" providerId="AD" clId="Web-{EA9B3449-C742-76F6-51B4-3072EA20DDA2}" dt="2025-04-15T12:24:02.713" v="1" actId="14100"/>
        <pc:sldMkLst>
          <pc:docMk/>
          <pc:sldMk cId="0" sldId="260"/>
        </pc:sldMkLst>
        <pc:spChg chg="mod">
          <ac:chgData name="Willem Shak" userId="S::shak.w@northeastern.edu::fed3b380-97c1-489c-a74d-d34321d52906" providerId="AD" clId="Web-{EA9B3449-C742-76F6-51B4-3072EA20DDA2}" dt="2025-04-15T12:24:02.713" v="1" actId="14100"/>
          <ac:spMkLst>
            <pc:docMk/>
            <pc:sldMk cId="0" sldId="260"/>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15.04.2025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everyone for our final project we decided to create a surfer tracker.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problem that almost everybody who surfs (like willem) faces is that when they surf, the only footage they can get of themselves most times is from a camera on the beach. </a:t>
            </a:r>
          </a:p>
          <a:p>
            <a:endParaRPr lang="en-US"/>
          </a:p>
          <a:p>
            <a:r>
              <a:rPr lang="en-US"/>
              <a:t>And this is an example of what that footage can look like. So scrubbing through hours of video and having to track where you are the whole time is a pain, especially when there are many other people in the water with you, it gets extremely easy to lose yourself. So we wanted to make a way to track surfers with unique IDs such that they can know where they are at all times. We also wanted to detect when a surfer is on a wave so we can automatically take a small video clip of it. </a:t>
            </a:r>
          </a:p>
          <a:p>
            <a:r>
              <a:rPr lang="en-US"/>
              <a:t>Our project is about detecting relatively small objects (surfers) in the water in dynamic environments like the ocean. And if we can make an object detector on images, combine it with a tracking algorithm, we can apply it to videos.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our project we first found some datasets of images of surfers in the water at various distances from the camera and all of these images had different amounts of people in the water. </a:t>
            </a:r>
          </a:p>
          <a:p>
            <a:r>
              <a:rPr lang="en-US"/>
              <a:t>Then we attempted to try a custom transformer based model to identify each of the surfers using the general detector dataset. And then finally, we experimented with a pre-trained model on both general and on wave datasets.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used three datasets for this problem. The first two datasets we combined and used for OnWave detection - detecting when a surfer is on a wave. These had closeup images of surfers. The first of the two datasets has 267 images with labels breaking wave, non breaking wave, pocket, surfer, surfer riding, and wave. The second of those two datasets has 855 images with labels surf and surfer.</a:t>
            </a:r>
          </a:p>
          <a:p>
            <a:r>
              <a:rPr lang="en-US"/>
              <a:t>To combine these, we cleaned the labels to be only class 0 is there is a surfer.</a:t>
            </a:r>
          </a:p>
          <a:p>
            <a:endParaRPr lang="en-US"/>
          </a:p>
          <a:p>
            <a:r>
              <a:rPr lang="en-US"/>
              <a:t>The third dataset we used was for generally detecting surfers in the water. This dataset has 30 thousand images  with the label surfer and the images had between 0 and 27 surfers.</a:t>
            </a:r>
          </a:p>
          <a:p>
            <a:r>
              <a:rPr lang="en-US"/>
              <a:t>19 thousand of the images had no surfers</a:t>
            </a:r>
          </a:p>
          <a:p>
            <a:r>
              <a:rPr lang="en-US"/>
              <a:t>and these images were 224 by 224 and from very far away.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are samples from each of the datasets. As you can see on the left, the general detector has many surfers who all basically look like small dots in the water.</a:t>
            </a:r>
          </a:p>
          <a:p>
            <a:r>
              <a:rPr lang="en-US"/>
              <a:t>On the right is a sample from the On wave detector and the surfer is much more clearly visible.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did some EDA on the datasets to see what we were working with. </a:t>
            </a:r>
          </a:p>
          <a:p>
            <a:r>
              <a:rPr lang="en-US"/>
              <a:t>For the general detector, the majority of the images had between 0 and 10 surfers but there were also images with  many more.</a:t>
            </a:r>
          </a:p>
          <a:p>
            <a:endParaRPr lang="en-US"/>
          </a:p>
          <a:p>
            <a:r>
              <a:rPr lang="en-US"/>
              <a:t>For the on wave datasets, most of the training videos has only 1 surfer and a smaller number of images contain 2 to 5 surfers.</a:t>
            </a:r>
          </a:p>
          <a:p>
            <a:r>
              <a:rPr lang="en-US"/>
              <a:t>which tells us that this dataset is mostly made for detecting individual surfers not crowds.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for our first custom model, we wanted to do the task of general detection.We took in the input images, fed it into 4 convolutional layers that extracted features, used sinusoidal positional embeddings and fed that into a transformer where it encodes the features from the convolutions, then that and 100 learnable queries are fed into the decoder which creates the queries which can be used for prediction. Each query is fed into the two detection heads, a classification head which is just a linear layer that maps to the two classes of background or surfer, and the box regression head that is an MLP to find the 4 box values of x and y position, width and height. </a:t>
            </a:r>
          </a:p>
          <a:p>
            <a:endParaRPr lang="en-US"/>
          </a:p>
          <a:p>
            <a:r>
              <a:rPr lang="en-US"/>
              <a:t>To find the loss, we use hungarian matching to match the predictions to ground truth boxes, where there is only one match per ground truth label. THen we take the loss of those matches with classification loss which is like binary cross entropy, box regression loss which is the L1 loss, and the generalized intersection over union.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was able to generally find the area of surfers, but not well. It was also able to reliabily predict no surfer when there were no surfers. Confidence levels were really high for the surfers but it was over predicting. The Loss only decreased a little, but what's interseting is that the metrics like Precision, mean Intersection over union, and box loss were always 0, because it never learned to fit the ground truth boxes tightly enough to trigger the IoU threshold and create a false positive or something like that.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Something we played around a lot with was the loss function, namely turning up the weights for certain behaviors we wanted to encourage like box regression and GIoU loss. We also experimented with focal loss instead of cross entropy for the classification loss, but since it takes so long to train, over an hour each epoch, it was hard to see good results. We also think that was just a limitation of our architecture, where we lost too much information during the initial convolutional backbone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the final results after 13 epochs. We can see that the boxes are on the general y plane of the surfers, but wasn't good at separating the boxes or tightly fitting the surfers.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Since that wasn't going well, we wanted to change our architecture. We used a pretrained Resnet50 instead of convolutional layers to retain more information, and with the same loss function, we were able to get simlilar results to the previous version after about 10 epochs.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then adjusted the weights to increase the GIoU loss to 10 and trained for 10 more epochs. Now we were able to see much better localization, and it finally seemed like itwas getting somewhere.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least we thought it would do well. Here we combined it with our tracking algorithm SORT, and it was not very precise or reliable, but there was some resemblance of tracking.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Numerous augmentation techniques to try and fine tuning abilities.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High level overview</a:t>
            </a:r>
          </a:p>
          <a:p>
            <a:r>
              <a:rPr lang="en-US"/>
              <a:t>Input: images</a:t>
            </a:r>
          </a:p>
          <a:p>
            <a:r>
              <a:rPr lang="en-US"/>
              <a:t>Then there are 3 main components. </a:t>
            </a:r>
          </a:p>
          <a:p>
            <a:r>
              <a:rPr lang="en-US"/>
              <a:t>Backbone: pre-trained classification models, extracts features from input image</a:t>
            </a:r>
          </a:p>
          <a:p>
            <a:r>
              <a:rPr lang="en-US"/>
              <a:t>Neck: up-sampling to different state feature maps. Easier to detect objects of different sizes.</a:t>
            </a:r>
          </a:p>
          <a:p>
            <a:r>
              <a:rPr lang="en-US"/>
              <a:t>Head: Predictions to classes and bounding boxes of detected objects.</a:t>
            </a:r>
          </a:p>
          <a:p>
            <a:endParaRPr lang="en-US"/>
          </a:p>
          <a:p>
            <a:endParaRPr lang="en-US"/>
          </a:p>
          <a:p>
            <a:endParaRPr lang="en-US"/>
          </a:p>
          <a:p>
            <a:endParaRPr lang="en-US"/>
          </a:p>
          <a:p>
            <a:endParaRPr lang="en-US"/>
          </a:p>
          <a:p>
            <a:r>
              <a:rPr lang="en-US"/>
              <a:t>https://docs.ultralytics.com/yolov5/tutorials/architecture_description/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Steps from slide. YOLOv5 is essentially a single shot detector: Analogy instead of using a magnifying glass to scan a photo section by section,  YOLOV5 can look at the whole image and see everything. Helpful for real time video.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training on 20 epochs we got results. The red label above each box shows the predicted class ("surfer") and the confidence value. We can see that the On-Wave detector has higher confidence scores than the General detector. Which makes sense, because on-wave surfers are closer and clearer, so the model can detect them more easily.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YOLOv5 returns three loss outputs: the classes of the detected objects, their bounding boxes and the object scores. It uses BCE (Binary Cross Entropy) to compute the classes loss and the object loss. </a:t>
            </a:r>
          </a:p>
          <a:p>
            <a:endParaRPr lang="en-US"/>
          </a:p>
          <a:p>
            <a:r>
              <a:rPr lang="en-US"/>
              <a:t>While CIoU (Complete Intersection over Union) loss to compute the location loss. where the Prediction, and ground truth, overlap</a:t>
            </a:r>
          </a:p>
          <a:p>
            <a:endParaRPr lang="en-US"/>
          </a:p>
          <a:p>
            <a:r>
              <a:rPr lang="en-US"/>
              <a:t>Overall, our model on both data sets learns to predict better bounding boxes over time and better at distinguishing objects from the background. The cls_loss is 0 because there's just a single-class.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wanted to test the YOLOv5 model for real time video footage. YoloV5 is used to detect objects in each frame, and then we used the DeepSORT algorithm to track these objects across multiple frames and associate them with unique IDs. </a:t>
            </a:r>
          </a:p>
          <a:p>
            <a:endParaRPr lang="en-US"/>
          </a:p>
          <a:p>
            <a:r>
              <a:rPr lang="en-US"/>
              <a:t>Challenges/several iterations:</a:t>
            </a:r>
          </a:p>
          <a:p>
            <a:r>
              <a:rPr lang="en-US"/>
              <a:t>Needed to adjust confidence threshold from .4 to .2. We noticed only a few surfers were being picked up in the video but it is because their confidence scores were lower than the threshold. </a:t>
            </a:r>
          </a:p>
          <a:p>
            <a:r>
              <a:rPr lang="en-US"/>
              <a:t>Play around with Intersection over union threshold.</a:t>
            </a:r>
          </a:p>
          <a:p>
            <a:r>
              <a:rPr lang="en-US"/>
              <a:t>Not as accurate, far away. </a:t>
            </a:r>
          </a:p>
          <a:p>
            <a:endParaRPr lang="en-US"/>
          </a:p>
          <a:p>
            <a:endParaRPr lang="en-US"/>
          </a:p>
          <a:p>
            <a:r>
              <a:rPr lang="en-US"/>
              <a:t>Stands for: Simple Online and Realtime Tracking with a Deep Association Metric.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test video using the general dataset model and combined with DeepSORT for tracking.</a:t>
            </a:r>
          </a:p>
          <a:p>
            <a:endParaRPr lang="en-US"/>
          </a:p>
          <a:p>
            <a:r>
              <a:rPr lang="en-US"/>
              <a:t>As you can see, it does detect surfers, but the confidence is not that accurate.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is our key takeaways.</a:t>
            </a:r>
          </a:p>
          <a:p>
            <a:endParaRPr lang="en-US"/>
          </a:p>
          <a:p>
            <a:r>
              <a:rPr lang="en-US"/>
              <a:t>which is our model has good scalability. Once trained, it can be used on any video, including real surfing footage.</a:t>
            </a:r>
          </a:p>
          <a:p>
            <a:endParaRPr lang="en-US"/>
          </a:p>
          <a:p>
            <a:r>
              <a:rPr lang="en-US"/>
              <a:t>But there were also some challenges.</a:t>
            </a:r>
          </a:p>
          <a:p>
            <a:r>
              <a:rPr lang="en-US"/>
              <a:t>One was training time. When we used high-resolution images, both training and testing became very slow.</a:t>
            </a:r>
          </a:p>
          <a:p>
            <a:endParaRPr lang="en-US"/>
          </a:p>
          <a:p>
            <a:r>
              <a:rPr lang="en-US"/>
              <a:t>Another limitation was one-class detection.</a:t>
            </a:r>
          </a:p>
          <a:p>
            <a:r>
              <a:rPr lang="en-US"/>
              <a:t>We only trained the model to detect class 0, which is 'surfer'. So things like surfboards or waves were not labeled or learned by the model.</a:t>
            </a:r>
          </a:p>
          <a:p>
            <a:endParaRPr lang="en-US"/>
          </a:p>
          <a:p>
            <a:r>
              <a:rPr lang="en-US"/>
              <a:t>So, in the future, we need to improve in speed, class variety, and hardware optimization."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jpeg"/><Relationship Id="rId5" Type="http://schemas.openxmlformats.org/officeDocument/2006/relationships/image" Target="../media/image2.jpe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jpeg"/><Relationship Id="rId7" Type="http://schemas.openxmlformats.org/officeDocument/2006/relationships/image" Target="../media/image21.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0.jpeg"/></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3" name="TextBox 3"/>
          <p:cNvSpPr txBox="1"/>
          <p:nvPr/>
        </p:nvSpPr>
        <p:spPr>
          <a:xfrm>
            <a:off x="3076319" y="3932015"/>
            <a:ext cx="12135362" cy="3233837"/>
          </a:xfrm>
          <a:prstGeom prst="rect">
            <a:avLst/>
          </a:prstGeom>
        </p:spPr>
        <p:txBody>
          <a:bodyPr lIns="0" tIns="0" rIns="0" bIns="0" rtlCol="0" anchor="t">
            <a:spAutoFit/>
          </a:bodyPr>
          <a:lstStyle/>
          <a:p>
            <a:pPr algn="ctr">
              <a:lnSpc>
                <a:spcPts val="11415"/>
              </a:lnSpc>
            </a:pPr>
            <a:r>
              <a:rPr lang="en-US" sz="10377" b="1">
                <a:solidFill>
                  <a:srgbClr val="FFFFFF"/>
                </a:solidFill>
                <a:latin typeface="Agrandir Grand Heavy"/>
                <a:ea typeface="Agrandir Grand Heavy"/>
                <a:cs typeface="Agrandir Grand Heavy"/>
                <a:sym typeface="Agrandir Grand Heavy"/>
              </a:rPr>
              <a:t>SURFER TRACKER </a:t>
            </a:r>
          </a:p>
        </p:txBody>
      </p:sp>
      <p:grpSp>
        <p:nvGrpSpPr>
          <p:cNvPr id="4" name="Group 4"/>
          <p:cNvGrpSpPr/>
          <p:nvPr/>
        </p:nvGrpSpPr>
        <p:grpSpPr>
          <a:xfrm>
            <a:off x="2891457" y="8714519"/>
            <a:ext cx="12505086" cy="663381"/>
            <a:chOff x="0" y="0"/>
            <a:chExt cx="3293521" cy="174718"/>
          </a:xfrm>
        </p:grpSpPr>
        <p:sp>
          <p:nvSpPr>
            <p:cNvPr id="5" name="Freeform 5"/>
            <p:cNvSpPr/>
            <p:nvPr/>
          </p:nvSpPr>
          <p:spPr>
            <a:xfrm>
              <a:off x="0" y="0"/>
              <a:ext cx="3293521" cy="174718"/>
            </a:xfrm>
            <a:custGeom>
              <a:avLst/>
              <a:gdLst/>
              <a:ahLst/>
              <a:cxnLst/>
              <a:rect l="l" t="t" r="r" b="b"/>
              <a:pathLst>
                <a:path w="3293521" h="174718">
                  <a:moveTo>
                    <a:pt x="31574" y="0"/>
                  </a:moveTo>
                  <a:lnTo>
                    <a:pt x="3261947" y="0"/>
                  </a:lnTo>
                  <a:cubicBezTo>
                    <a:pt x="3270321" y="0"/>
                    <a:pt x="3278351" y="3327"/>
                    <a:pt x="3284273" y="9248"/>
                  </a:cubicBezTo>
                  <a:cubicBezTo>
                    <a:pt x="3290194" y="15169"/>
                    <a:pt x="3293521" y="23200"/>
                    <a:pt x="3293521" y="31574"/>
                  </a:cubicBezTo>
                  <a:lnTo>
                    <a:pt x="3293521" y="143143"/>
                  </a:lnTo>
                  <a:cubicBezTo>
                    <a:pt x="3293521" y="160581"/>
                    <a:pt x="3279384" y="174718"/>
                    <a:pt x="3261947" y="174718"/>
                  </a:cubicBezTo>
                  <a:lnTo>
                    <a:pt x="31574" y="174718"/>
                  </a:lnTo>
                  <a:cubicBezTo>
                    <a:pt x="14136" y="174718"/>
                    <a:pt x="0" y="160581"/>
                    <a:pt x="0" y="143143"/>
                  </a:cubicBezTo>
                  <a:lnTo>
                    <a:pt x="0" y="31574"/>
                  </a:lnTo>
                  <a:cubicBezTo>
                    <a:pt x="0" y="14136"/>
                    <a:pt x="14136" y="0"/>
                    <a:pt x="31574" y="0"/>
                  </a:cubicBezTo>
                  <a:close/>
                </a:path>
              </a:pathLst>
            </a:custGeom>
            <a:solidFill>
              <a:srgbClr val="000000">
                <a:alpha val="0"/>
              </a:srgbClr>
            </a:solidFill>
            <a:ln w="19050" cap="rnd">
              <a:solidFill>
                <a:srgbClr val="FFFFFF"/>
              </a:solidFill>
              <a:prstDash val="solid"/>
              <a:round/>
            </a:ln>
          </p:spPr>
        </p:sp>
        <p:sp>
          <p:nvSpPr>
            <p:cNvPr id="6" name="TextBox 6"/>
            <p:cNvSpPr txBox="1"/>
            <p:nvPr/>
          </p:nvSpPr>
          <p:spPr>
            <a:xfrm>
              <a:off x="0" y="-38100"/>
              <a:ext cx="3293521" cy="212818"/>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3076319" y="3054473"/>
            <a:ext cx="12135362" cy="961935"/>
          </a:xfrm>
          <a:prstGeom prst="rect">
            <a:avLst/>
          </a:prstGeom>
        </p:spPr>
        <p:txBody>
          <a:bodyPr lIns="0" tIns="0" rIns="0" bIns="0" rtlCol="0" anchor="t">
            <a:spAutoFit/>
          </a:bodyPr>
          <a:lstStyle/>
          <a:p>
            <a:pPr algn="ctr">
              <a:lnSpc>
                <a:spcPts val="6055"/>
              </a:lnSpc>
            </a:pPr>
            <a:r>
              <a:rPr lang="en-US" sz="5936" b="1">
                <a:solidFill>
                  <a:srgbClr val="FFFFFF"/>
                </a:solidFill>
                <a:latin typeface="Agrandir Wide Medium"/>
                <a:ea typeface="Agrandir Wide Medium"/>
                <a:cs typeface="Agrandir Wide Medium"/>
                <a:sym typeface="Agrandir Wide Medium"/>
              </a:rPr>
              <a:t>DEEP LEARNING</a:t>
            </a:r>
          </a:p>
        </p:txBody>
      </p:sp>
      <p:sp>
        <p:nvSpPr>
          <p:cNvPr id="8" name="TextBox 8"/>
          <p:cNvSpPr txBox="1"/>
          <p:nvPr/>
        </p:nvSpPr>
        <p:spPr>
          <a:xfrm>
            <a:off x="3797851" y="8691245"/>
            <a:ext cx="10692298" cy="567055"/>
          </a:xfrm>
          <a:prstGeom prst="rect">
            <a:avLst/>
          </a:prstGeom>
        </p:spPr>
        <p:txBody>
          <a:bodyPr lIns="0" tIns="0" rIns="0" bIns="0" rtlCol="0" anchor="t">
            <a:spAutoFit/>
          </a:bodyPr>
          <a:lstStyle/>
          <a:p>
            <a:pPr algn="ctr">
              <a:lnSpc>
                <a:spcPts val="3919"/>
              </a:lnSpc>
              <a:spcBef>
                <a:spcPct val="0"/>
              </a:spcBef>
            </a:pPr>
            <a:r>
              <a:rPr lang="en-US" sz="2799" b="1" spc="109">
                <a:solidFill>
                  <a:srgbClr val="FFFFFF"/>
                </a:solidFill>
                <a:latin typeface="Agrandir Narrow Bold"/>
                <a:ea typeface="Agrandir Narrow Bold"/>
                <a:cs typeface="Agrandir Narrow Bold"/>
                <a:sym typeface="Agrandir Narrow Bold"/>
              </a:rPr>
              <a:t>By Lubaina Malvi, Willem Shak, Yasmeen Dao, Yining Tao</a:t>
            </a:r>
          </a:p>
        </p:txBody>
      </p:sp>
      <p:sp>
        <p:nvSpPr>
          <p:cNvPr id="9" name="TextBox 9"/>
          <p:cNvSpPr txBox="1"/>
          <p:nvPr/>
        </p:nvSpPr>
        <p:spPr>
          <a:xfrm>
            <a:off x="5496930" y="673735"/>
            <a:ext cx="7294141" cy="567055"/>
          </a:xfrm>
          <a:prstGeom prst="rect">
            <a:avLst/>
          </a:prstGeom>
        </p:spPr>
        <p:txBody>
          <a:bodyPr lIns="0" tIns="0" rIns="0" bIns="0" rtlCol="0" anchor="t">
            <a:spAutoFit/>
          </a:bodyPr>
          <a:lstStyle/>
          <a:p>
            <a:pPr algn="ctr">
              <a:lnSpc>
                <a:spcPts val="3919"/>
              </a:lnSpc>
              <a:spcBef>
                <a:spcPct val="0"/>
              </a:spcBef>
            </a:pPr>
            <a:r>
              <a:rPr lang="en-US" sz="2799" b="1" spc="109">
                <a:solidFill>
                  <a:srgbClr val="FFFFFF"/>
                </a:solidFill>
                <a:latin typeface="Agrandir Narrow Bold"/>
                <a:ea typeface="Agrandir Narrow Bold"/>
                <a:cs typeface="Agrandir Narrow Bold"/>
                <a:sym typeface="Agrandir Narrow Bold"/>
              </a:rPr>
              <a:t>DS4440 Final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Freeform 3"/>
          <p:cNvSpPr/>
          <p:nvPr/>
        </p:nvSpPr>
        <p:spPr>
          <a:xfrm>
            <a:off x="8737999" y="0"/>
            <a:ext cx="9550001" cy="5615556"/>
          </a:xfrm>
          <a:custGeom>
            <a:avLst/>
            <a:gdLst/>
            <a:ahLst/>
            <a:cxnLst/>
            <a:rect l="l" t="t" r="r" b="b"/>
            <a:pathLst>
              <a:path w="9550001" h="5615556">
                <a:moveTo>
                  <a:pt x="0" y="0"/>
                </a:moveTo>
                <a:lnTo>
                  <a:pt x="9550001" y="0"/>
                </a:lnTo>
                <a:lnTo>
                  <a:pt x="9550001" y="5615556"/>
                </a:lnTo>
                <a:lnTo>
                  <a:pt x="0" y="5615556"/>
                </a:lnTo>
                <a:lnTo>
                  <a:pt x="0" y="0"/>
                </a:lnTo>
                <a:close/>
              </a:path>
            </a:pathLst>
          </a:custGeom>
          <a:blipFill>
            <a:blip r:embed="rId4"/>
            <a:stretch>
              <a:fillRect l="-1596" b="-1075"/>
            </a:stretch>
          </a:blipFill>
        </p:spPr>
      </p:sp>
      <p:grpSp>
        <p:nvGrpSpPr>
          <p:cNvPr id="4" name="Group 4"/>
          <p:cNvGrpSpPr/>
          <p:nvPr/>
        </p:nvGrpSpPr>
        <p:grpSpPr>
          <a:xfrm>
            <a:off x="14704610" y="1934168"/>
            <a:ext cx="3086100" cy="3086100"/>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alpha val="0"/>
              </a:srgbClr>
            </a:solidFill>
            <a:ln w="38100" cap="sq">
              <a:solidFill>
                <a:srgbClr val="FF3131"/>
              </a:solidFill>
              <a:prstDash val="solid"/>
              <a:miter/>
            </a:ln>
          </p:spPr>
        </p:sp>
        <p:sp>
          <p:nvSpPr>
            <p:cNvPr id="6" name="TextBox 6"/>
            <p:cNvSpPr txBox="1"/>
            <p:nvPr/>
          </p:nvSpPr>
          <p:spPr>
            <a:xfrm>
              <a:off x="0" y="0"/>
              <a:ext cx="812800" cy="812800"/>
            </a:xfrm>
            <a:prstGeom prst="rect">
              <a:avLst/>
            </a:prstGeom>
          </p:spPr>
          <p:txBody>
            <a:bodyPr lIns="50800" tIns="50800" rIns="50800" bIns="50800" rtlCol="0" anchor="ctr"/>
            <a:lstStyle/>
            <a:p>
              <a:pPr algn="ctr">
                <a:lnSpc>
                  <a:spcPts val="2879"/>
                </a:lnSpc>
              </a:pPr>
              <a:endParaRPr/>
            </a:p>
          </p:txBody>
        </p:sp>
      </p:grpSp>
      <p:sp>
        <p:nvSpPr>
          <p:cNvPr id="7" name="Freeform 7"/>
          <p:cNvSpPr/>
          <p:nvPr/>
        </p:nvSpPr>
        <p:spPr>
          <a:xfrm>
            <a:off x="13436781" y="6109786"/>
            <a:ext cx="4836774" cy="4177214"/>
          </a:xfrm>
          <a:custGeom>
            <a:avLst/>
            <a:gdLst/>
            <a:ahLst/>
            <a:cxnLst/>
            <a:rect l="l" t="t" r="r" b="b"/>
            <a:pathLst>
              <a:path w="4836774" h="4177214">
                <a:moveTo>
                  <a:pt x="0" y="0"/>
                </a:moveTo>
                <a:lnTo>
                  <a:pt x="4836774" y="0"/>
                </a:lnTo>
                <a:lnTo>
                  <a:pt x="4836774" y="4177214"/>
                </a:lnTo>
                <a:lnTo>
                  <a:pt x="0" y="4177214"/>
                </a:lnTo>
                <a:lnTo>
                  <a:pt x="0" y="0"/>
                </a:lnTo>
                <a:close/>
              </a:path>
            </a:pathLst>
          </a:custGeom>
          <a:blipFill>
            <a:blip r:embed="rId5"/>
            <a:stretch>
              <a:fillRect/>
            </a:stretch>
          </a:blipFill>
        </p:spPr>
      </p:sp>
      <p:sp>
        <p:nvSpPr>
          <p:cNvPr id="8" name="TextBox 8"/>
          <p:cNvSpPr txBox="1"/>
          <p:nvPr/>
        </p:nvSpPr>
        <p:spPr>
          <a:xfrm>
            <a:off x="739229" y="453488"/>
            <a:ext cx="7184854"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BACKGROUND</a:t>
            </a:r>
          </a:p>
        </p:txBody>
      </p:sp>
      <p:sp>
        <p:nvSpPr>
          <p:cNvPr id="9" name="TextBox 9"/>
          <p:cNvSpPr txBox="1"/>
          <p:nvPr/>
        </p:nvSpPr>
        <p:spPr>
          <a:xfrm>
            <a:off x="409390" y="1877018"/>
            <a:ext cx="7863582" cy="7806942"/>
          </a:xfrm>
          <a:prstGeom prst="rect">
            <a:avLst/>
          </a:prstGeom>
        </p:spPr>
        <p:txBody>
          <a:bodyPr lIns="0" tIns="0" rIns="0" bIns="0" rtlCol="0" anchor="t">
            <a:spAutoFit/>
          </a:bodyPr>
          <a:lstStyle/>
          <a:p>
            <a:pPr marL="543476" lvl="1" indent="-271738" algn="l">
              <a:lnSpc>
                <a:spcPts val="3524"/>
              </a:lnSpc>
              <a:buFont typeface="Arial"/>
              <a:buChar char="•"/>
            </a:pPr>
            <a:r>
              <a:rPr lang="en-US" sz="2517" b="1" spc="7">
                <a:solidFill>
                  <a:srgbClr val="214492"/>
                </a:solidFill>
                <a:latin typeface="Inter Medium"/>
                <a:ea typeface="Inter Medium"/>
                <a:cs typeface="Inter Medium"/>
                <a:sym typeface="Inter Medium"/>
              </a:rPr>
              <a:t>Tracking yourself from the beach cameras is HARD. You have to scrub through hours of video, and it’s really easy to lose yourself</a:t>
            </a:r>
          </a:p>
          <a:p>
            <a:pPr marL="543476" lvl="1" indent="-271738" algn="l">
              <a:lnSpc>
                <a:spcPts val="3524"/>
              </a:lnSpc>
              <a:buFont typeface="Arial"/>
              <a:buChar char="•"/>
            </a:pPr>
            <a:r>
              <a:rPr lang="en-US" sz="2517" b="1" spc="7">
                <a:solidFill>
                  <a:srgbClr val="214492"/>
                </a:solidFill>
                <a:latin typeface="Inter Medium"/>
                <a:ea typeface="Inter Medium"/>
                <a:cs typeface="Inter Medium"/>
                <a:sym typeface="Inter Medium"/>
              </a:rPr>
              <a:t>I want videos of me surfing, I don’t want to do all the work to find myself</a:t>
            </a:r>
          </a:p>
          <a:p>
            <a:pPr marL="543476" lvl="1" indent="-271738" algn="l">
              <a:lnSpc>
                <a:spcPts val="3524"/>
              </a:lnSpc>
              <a:buFont typeface="Arial"/>
              <a:buChar char="•"/>
            </a:pPr>
            <a:r>
              <a:rPr lang="en-US" sz="2517" b="1" spc="7">
                <a:solidFill>
                  <a:srgbClr val="214492"/>
                </a:solidFill>
                <a:latin typeface="Inter Medium"/>
                <a:ea typeface="Inter Medium"/>
                <a:cs typeface="Inter Medium"/>
                <a:sym typeface="Inter Medium"/>
              </a:rPr>
              <a:t>Our goal is to track surfers with unique IDs such that we can know where I am at all times during the recording</a:t>
            </a:r>
          </a:p>
          <a:p>
            <a:pPr marL="543476" lvl="1" indent="-271738" algn="l">
              <a:lnSpc>
                <a:spcPts val="3524"/>
              </a:lnSpc>
              <a:buFont typeface="Arial"/>
              <a:buChar char="•"/>
            </a:pPr>
            <a:r>
              <a:rPr lang="en-US" sz="2517" b="1" spc="7">
                <a:solidFill>
                  <a:srgbClr val="214492"/>
                </a:solidFill>
                <a:latin typeface="Inter Medium"/>
                <a:ea typeface="Inter Medium"/>
                <a:cs typeface="Inter Medium"/>
                <a:sym typeface="Inter Medium"/>
              </a:rPr>
              <a:t>We also would like to know when a surfer is on a wave, so that it can automatically take a clip of it</a:t>
            </a:r>
          </a:p>
          <a:p>
            <a:pPr marL="543476" lvl="1" indent="-271738" algn="l">
              <a:lnSpc>
                <a:spcPts val="3524"/>
              </a:lnSpc>
              <a:buFont typeface="Arial"/>
              <a:buChar char="•"/>
            </a:pPr>
            <a:r>
              <a:rPr lang="en-US" sz="2517" b="1" spc="7">
                <a:solidFill>
                  <a:srgbClr val="214492"/>
                </a:solidFill>
                <a:latin typeface="Inter Medium"/>
                <a:ea typeface="Inter Medium"/>
                <a:cs typeface="Inter Medium"/>
                <a:sym typeface="Inter Medium"/>
              </a:rPr>
              <a:t>Detecting relatively small objects (surfers) in complex, dynamic environments (waves, oceans)</a:t>
            </a:r>
          </a:p>
          <a:p>
            <a:pPr marL="543476" lvl="1" indent="-271738" algn="l">
              <a:lnSpc>
                <a:spcPts val="3524"/>
              </a:lnSpc>
              <a:buFont typeface="Arial"/>
              <a:buChar char="•"/>
            </a:pPr>
            <a:r>
              <a:rPr lang="en-US" sz="2517" b="1" u="none" spc="7">
                <a:solidFill>
                  <a:srgbClr val="214492"/>
                </a:solidFill>
                <a:latin typeface="Inter Medium"/>
                <a:ea typeface="Inter Medium"/>
                <a:cs typeface="Inter Medium"/>
                <a:sym typeface="Inter Medium"/>
              </a:rPr>
              <a:t>If we can make an object detector on images, combined with a tracking algorithm, we can apply it to video </a:t>
            </a:r>
          </a:p>
          <a:p>
            <a:pPr marL="0" lvl="0" indent="0" algn="l">
              <a:lnSpc>
                <a:spcPts val="2911"/>
              </a:lnSpc>
            </a:pPr>
            <a:endParaRPr lang="en-US" sz="2517" b="1" u="none" spc="7">
              <a:solidFill>
                <a:srgbClr val="214492"/>
              </a:solidFill>
              <a:latin typeface="Inter Medium"/>
              <a:ea typeface="Inter Medium"/>
              <a:cs typeface="Inter Medium"/>
              <a:sym typeface="Inter Medium"/>
            </a:endParaRPr>
          </a:p>
        </p:txBody>
      </p:sp>
      <p:sp>
        <p:nvSpPr>
          <p:cNvPr id="10" name="AutoShape 10"/>
          <p:cNvSpPr/>
          <p:nvPr/>
        </p:nvSpPr>
        <p:spPr>
          <a:xfrm flipH="1">
            <a:off x="16072249" y="5020268"/>
            <a:ext cx="175411" cy="969127"/>
          </a:xfrm>
          <a:prstGeom prst="line">
            <a:avLst/>
          </a:prstGeom>
          <a:ln w="95250" cap="flat">
            <a:solidFill>
              <a:srgbClr val="000000"/>
            </a:solidFill>
            <a:prstDash val="solid"/>
            <a:headEnd type="none" w="sm" len="sm"/>
            <a:tailEnd type="arrow" w="med"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AutoShape 3"/>
          <p:cNvSpPr/>
          <p:nvPr/>
        </p:nvSpPr>
        <p:spPr>
          <a:xfrm>
            <a:off x="-886757" y="4201877"/>
            <a:ext cx="20061513" cy="0"/>
          </a:xfrm>
          <a:prstGeom prst="line">
            <a:avLst/>
          </a:prstGeom>
          <a:ln w="28575" cap="flat">
            <a:solidFill>
              <a:srgbClr val="B0E4E8"/>
            </a:solidFill>
            <a:prstDash val="solid"/>
            <a:headEnd type="none" w="sm" len="sm"/>
            <a:tailEnd type="none" w="sm" len="sm"/>
          </a:ln>
        </p:spPr>
      </p:sp>
      <p:grpSp>
        <p:nvGrpSpPr>
          <p:cNvPr id="4" name="Group 4"/>
          <p:cNvGrpSpPr/>
          <p:nvPr/>
        </p:nvGrpSpPr>
        <p:grpSpPr>
          <a:xfrm>
            <a:off x="2943546" y="3950849"/>
            <a:ext cx="502056" cy="50205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B0E4E8"/>
            </a:solidFill>
          </p:spPr>
        </p:sp>
        <p:sp>
          <p:nvSpPr>
            <p:cNvPr id="6" name="TextBox 6"/>
            <p:cNvSpPr txBox="1"/>
            <p:nvPr/>
          </p:nvSpPr>
          <p:spPr>
            <a:xfrm>
              <a:off x="127000" y="165100"/>
              <a:ext cx="558800" cy="520700"/>
            </a:xfrm>
            <a:prstGeom prst="rect">
              <a:avLst/>
            </a:prstGeom>
          </p:spPr>
          <p:txBody>
            <a:bodyPr lIns="50800" tIns="50800" rIns="50800" bIns="50800" rtlCol="0" anchor="ctr"/>
            <a:lstStyle/>
            <a:p>
              <a:pPr algn="ctr">
                <a:lnSpc>
                  <a:spcPts val="2266"/>
                </a:lnSpc>
              </a:pPr>
              <a:endParaRPr/>
            </a:p>
          </p:txBody>
        </p:sp>
      </p:grpSp>
      <p:grpSp>
        <p:nvGrpSpPr>
          <p:cNvPr id="7" name="Group 7"/>
          <p:cNvGrpSpPr/>
          <p:nvPr/>
        </p:nvGrpSpPr>
        <p:grpSpPr>
          <a:xfrm>
            <a:off x="1345042" y="4929197"/>
            <a:ext cx="3699065" cy="3654992"/>
            <a:chOff x="0" y="0"/>
            <a:chExt cx="1044854" cy="1032405"/>
          </a:xfrm>
        </p:grpSpPr>
        <p:sp>
          <p:nvSpPr>
            <p:cNvPr id="8" name="Freeform 8"/>
            <p:cNvSpPr/>
            <p:nvPr/>
          </p:nvSpPr>
          <p:spPr>
            <a:xfrm>
              <a:off x="0" y="0"/>
              <a:ext cx="1044854" cy="1032405"/>
            </a:xfrm>
            <a:custGeom>
              <a:avLst/>
              <a:gdLst/>
              <a:ahLst/>
              <a:cxnLst/>
              <a:rect l="l" t="t" r="r" b="b"/>
              <a:pathLst>
                <a:path w="1044854" h="1032405">
                  <a:moveTo>
                    <a:pt x="23022" y="0"/>
                  </a:moveTo>
                  <a:lnTo>
                    <a:pt x="1021832" y="0"/>
                  </a:lnTo>
                  <a:cubicBezTo>
                    <a:pt x="1027938" y="0"/>
                    <a:pt x="1033794" y="2426"/>
                    <a:pt x="1038111" y="6743"/>
                  </a:cubicBezTo>
                  <a:cubicBezTo>
                    <a:pt x="1042429" y="11061"/>
                    <a:pt x="1044854" y="16916"/>
                    <a:pt x="1044854" y="23022"/>
                  </a:cubicBezTo>
                  <a:lnTo>
                    <a:pt x="1044854" y="1009383"/>
                  </a:lnTo>
                  <a:cubicBezTo>
                    <a:pt x="1044854" y="1015489"/>
                    <a:pt x="1042429" y="1021344"/>
                    <a:pt x="1038111" y="1025662"/>
                  </a:cubicBezTo>
                  <a:cubicBezTo>
                    <a:pt x="1033794" y="1029979"/>
                    <a:pt x="1027938" y="1032405"/>
                    <a:pt x="1021832" y="1032405"/>
                  </a:cubicBezTo>
                  <a:lnTo>
                    <a:pt x="23022" y="1032405"/>
                  </a:lnTo>
                  <a:cubicBezTo>
                    <a:pt x="16916" y="1032405"/>
                    <a:pt x="11061" y="1029979"/>
                    <a:pt x="6743" y="1025662"/>
                  </a:cubicBezTo>
                  <a:cubicBezTo>
                    <a:pt x="2426" y="1021344"/>
                    <a:pt x="0" y="1015489"/>
                    <a:pt x="0" y="1009383"/>
                  </a:cubicBezTo>
                  <a:lnTo>
                    <a:pt x="0" y="23022"/>
                  </a:lnTo>
                  <a:cubicBezTo>
                    <a:pt x="0" y="16916"/>
                    <a:pt x="2426" y="11061"/>
                    <a:pt x="6743" y="6743"/>
                  </a:cubicBezTo>
                  <a:cubicBezTo>
                    <a:pt x="11061" y="2426"/>
                    <a:pt x="16916" y="0"/>
                    <a:pt x="23022" y="0"/>
                  </a:cubicBezTo>
                  <a:close/>
                </a:path>
              </a:pathLst>
            </a:custGeom>
            <a:solidFill>
              <a:srgbClr val="B0E4E8"/>
            </a:solidFill>
          </p:spPr>
        </p:sp>
        <p:sp>
          <p:nvSpPr>
            <p:cNvPr id="9" name="TextBox 9"/>
            <p:cNvSpPr txBox="1"/>
            <p:nvPr/>
          </p:nvSpPr>
          <p:spPr>
            <a:xfrm>
              <a:off x="0" y="38100"/>
              <a:ext cx="1044854" cy="994305"/>
            </a:xfrm>
            <a:prstGeom prst="rect">
              <a:avLst/>
            </a:prstGeom>
          </p:spPr>
          <p:txBody>
            <a:bodyPr lIns="50800" tIns="50800" rIns="50800" bIns="50800" rtlCol="0" anchor="ctr"/>
            <a:lstStyle/>
            <a:p>
              <a:pPr algn="ctr">
                <a:lnSpc>
                  <a:spcPts val="2266"/>
                </a:lnSpc>
              </a:pPr>
              <a:endParaRPr/>
            </a:p>
          </p:txBody>
        </p:sp>
      </p:grpSp>
      <p:sp>
        <p:nvSpPr>
          <p:cNvPr id="10" name="TextBox 10"/>
          <p:cNvSpPr txBox="1"/>
          <p:nvPr/>
        </p:nvSpPr>
        <p:spPr>
          <a:xfrm>
            <a:off x="2649424" y="1588512"/>
            <a:ext cx="12989152" cy="1029367"/>
          </a:xfrm>
          <a:prstGeom prst="rect">
            <a:avLst/>
          </a:prstGeom>
        </p:spPr>
        <p:txBody>
          <a:bodyPr lIns="0" tIns="0" rIns="0" bIns="0" rtlCol="0" anchor="t">
            <a:spAutoFit/>
          </a:bodyPr>
          <a:lstStyle/>
          <a:p>
            <a:pPr algn="ctr">
              <a:lnSpc>
                <a:spcPts val="6657"/>
              </a:lnSpc>
            </a:pPr>
            <a:r>
              <a:rPr lang="en-US" sz="6052" b="1">
                <a:solidFill>
                  <a:srgbClr val="FFFFFF"/>
                </a:solidFill>
                <a:latin typeface="Agrandir Narrow Bold"/>
                <a:ea typeface="Agrandir Narrow Bold"/>
                <a:cs typeface="Agrandir Narrow Bold"/>
                <a:sym typeface="Agrandir Narrow Bold"/>
              </a:rPr>
              <a:t>GENERAL OUTLINE</a:t>
            </a:r>
          </a:p>
        </p:txBody>
      </p:sp>
      <p:sp>
        <p:nvSpPr>
          <p:cNvPr id="11" name="TextBox 11"/>
          <p:cNvSpPr txBox="1"/>
          <p:nvPr/>
        </p:nvSpPr>
        <p:spPr>
          <a:xfrm>
            <a:off x="2170164" y="5368004"/>
            <a:ext cx="2048821" cy="647431"/>
          </a:xfrm>
          <a:prstGeom prst="rect">
            <a:avLst/>
          </a:prstGeom>
        </p:spPr>
        <p:txBody>
          <a:bodyPr lIns="0" tIns="0" rIns="0" bIns="0" rtlCol="0" anchor="t">
            <a:spAutoFit/>
          </a:bodyPr>
          <a:lstStyle/>
          <a:p>
            <a:pPr algn="ctr">
              <a:lnSpc>
                <a:spcPts val="4801"/>
              </a:lnSpc>
            </a:pPr>
            <a:r>
              <a:rPr lang="en-US" sz="4662" b="1">
                <a:solidFill>
                  <a:srgbClr val="242424"/>
                </a:solidFill>
                <a:latin typeface="Inter Bold"/>
                <a:ea typeface="Inter Bold"/>
                <a:cs typeface="Inter Bold"/>
                <a:sym typeface="Inter Bold"/>
              </a:rPr>
              <a:t>01</a:t>
            </a:r>
          </a:p>
        </p:txBody>
      </p:sp>
      <p:sp>
        <p:nvSpPr>
          <p:cNvPr id="12" name="TextBox 12"/>
          <p:cNvSpPr txBox="1"/>
          <p:nvPr/>
        </p:nvSpPr>
        <p:spPr>
          <a:xfrm>
            <a:off x="1675908" y="6120464"/>
            <a:ext cx="3037332" cy="324469"/>
          </a:xfrm>
          <a:prstGeom prst="rect">
            <a:avLst/>
          </a:prstGeom>
        </p:spPr>
        <p:txBody>
          <a:bodyPr lIns="0" tIns="0" rIns="0" bIns="0" rtlCol="0" anchor="t">
            <a:spAutoFit/>
          </a:bodyPr>
          <a:lstStyle/>
          <a:p>
            <a:pPr algn="ctr">
              <a:lnSpc>
                <a:spcPts val="2618"/>
              </a:lnSpc>
            </a:pPr>
            <a:r>
              <a:rPr lang="en-US" sz="1678" b="1">
                <a:solidFill>
                  <a:srgbClr val="242424"/>
                </a:solidFill>
                <a:latin typeface="Inter Medium"/>
                <a:ea typeface="Inter Medium"/>
                <a:cs typeface="Inter Medium"/>
                <a:sym typeface="Inter Medium"/>
              </a:rPr>
              <a:t>Dataset and Preprocessing</a:t>
            </a:r>
          </a:p>
        </p:txBody>
      </p:sp>
      <p:grpSp>
        <p:nvGrpSpPr>
          <p:cNvPr id="13" name="Group 13"/>
          <p:cNvGrpSpPr/>
          <p:nvPr/>
        </p:nvGrpSpPr>
        <p:grpSpPr>
          <a:xfrm>
            <a:off x="5311585" y="4929197"/>
            <a:ext cx="3699065" cy="3654992"/>
            <a:chOff x="0" y="0"/>
            <a:chExt cx="1044854" cy="1032405"/>
          </a:xfrm>
        </p:grpSpPr>
        <p:sp>
          <p:nvSpPr>
            <p:cNvPr id="14" name="Freeform 14"/>
            <p:cNvSpPr/>
            <p:nvPr/>
          </p:nvSpPr>
          <p:spPr>
            <a:xfrm>
              <a:off x="0" y="0"/>
              <a:ext cx="1044854" cy="1032405"/>
            </a:xfrm>
            <a:custGeom>
              <a:avLst/>
              <a:gdLst/>
              <a:ahLst/>
              <a:cxnLst/>
              <a:rect l="l" t="t" r="r" b="b"/>
              <a:pathLst>
                <a:path w="1044854" h="1032405">
                  <a:moveTo>
                    <a:pt x="23022" y="0"/>
                  </a:moveTo>
                  <a:lnTo>
                    <a:pt x="1021832" y="0"/>
                  </a:lnTo>
                  <a:cubicBezTo>
                    <a:pt x="1027938" y="0"/>
                    <a:pt x="1033794" y="2426"/>
                    <a:pt x="1038111" y="6743"/>
                  </a:cubicBezTo>
                  <a:cubicBezTo>
                    <a:pt x="1042429" y="11061"/>
                    <a:pt x="1044854" y="16916"/>
                    <a:pt x="1044854" y="23022"/>
                  </a:cubicBezTo>
                  <a:lnTo>
                    <a:pt x="1044854" y="1009383"/>
                  </a:lnTo>
                  <a:cubicBezTo>
                    <a:pt x="1044854" y="1015489"/>
                    <a:pt x="1042429" y="1021344"/>
                    <a:pt x="1038111" y="1025662"/>
                  </a:cubicBezTo>
                  <a:cubicBezTo>
                    <a:pt x="1033794" y="1029979"/>
                    <a:pt x="1027938" y="1032405"/>
                    <a:pt x="1021832" y="1032405"/>
                  </a:cubicBezTo>
                  <a:lnTo>
                    <a:pt x="23022" y="1032405"/>
                  </a:lnTo>
                  <a:cubicBezTo>
                    <a:pt x="16916" y="1032405"/>
                    <a:pt x="11061" y="1029979"/>
                    <a:pt x="6743" y="1025662"/>
                  </a:cubicBezTo>
                  <a:cubicBezTo>
                    <a:pt x="2426" y="1021344"/>
                    <a:pt x="0" y="1015489"/>
                    <a:pt x="0" y="1009383"/>
                  </a:cubicBezTo>
                  <a:lnTo>
                    <a:pt x="0" y="23022"/>
                  </a:lnTo>
                  <a:cubicBezTo>
                    <a:pt x="0" y="16916"/>
                    <a:pt x="2426" y="11061"/>
                    <a:pt x="6743" y="6743"/>
                  </a:cubicBezTo>
                  <a:cubicBezTo>
                    <a:pt x="11061" y="2426"/>
                    <a:pt x="16916" y="0"/>
                    <a:pt x="23022" y="0"/>
                  </a:cubicBezTo>
                  <a:close/>
                </a:path>
              </a:pathLst>
            </a:custGeom>
            <a:solidFill>
              <a:srgbClr val="B0E4E8"/>
            </a:solidFill>
          </p:spPr>
        </p:sp>
        <p:sp>
          <p:nvSpPr>
            <p:cNvPr id="15" name="TextBox 15"/>
            <p:cNvSpPr txBox="1"/>
            <p:nvPr/>
          </p:nvSpPr>
          <p:spPr>
            <a:xfrm>
              <a:off x="0" y="38100"/>
              <a:ext cx="1044854" cy="994305"/>
            </a:xfrm>
            <a:prstGeom prst="rect">
              <a:avLst/>
            </a:prstGeom>
          </p:spPr>
          <p:txBody>
            <a:bodyPr lIns="50800" tIns="50800" rIns="50800" bIns="50800" rtlCol="0" anchor="ctr"/>
            <a:lstStyle/>
            <a:p>
              <a:pPr algn="ctr">
                <a:lnSpc>
                  <a:spcPts val="2266"/>
                </a:lnSpc>
              </a:pPr>
              <a:endParaRPr/>
            </a:p>
          </p:txBody>
        </p:sp>
      </p:grpSp>
      <p:sp>
        <p:nvSpPr>
          <p:cNvPr id="16" name="TextBox 16"/>
          <p:cNvSpPr txBox="1"/>
          <p:nvPr/>
        </p:nvSpPr>
        <p:spPr>
          <a:xfrm>
            <a:off x="6136707" y="5368004"/>
            <a:ext cx="2048821" cy="647431"/>
          </a:xfrm>
          <a:prstGeom prst="rect">
            <a:avLst/>
          </a:prstGeom>
        </p:spPr>
        <p:txBody>
          <a:bodyPr lIns="0" tIns="0" rIns="0" bIns="0" rtlCol="0" anchor="t">
            <a:spAutoFit/>
          </a:bodyPr>
          <a:lstStyle/>
          <a:p>
            <a:pPr algn="ctr">
              <a:lnSpc>
                <a:spcPts val="4801"/>
              </a:lnSpc>
            </a:pPr>
            <a:r>
              <a:rPr lang="en-US" sz="4662" b="1">
                <a:solidFill>
                  <a:srgbClr val="242424"/>
                </a:solidFill>
                <a:latin typeface="Inter Bold"/>
                <a:ea typeface="Inter Bold"/>
                <a:cs typeface="Inter Bold"/>
                <a:sym typeface="Inter Bold"/>
              </a:rPr>
              <a:t>02</a:t>
            </a:r>
          </a:p>
        </p:txBody>
      </p:sp>
      <p:sp>
        <p:nvSpPr>
          <p:cNvPr id="17" name="TextBox 17"/>
          <p:cNvSpPr txBox="1"/>
          <p:nvPr/>
        </p:nvSpPr>
        <p:spPr>
          <a:xfrm>
            <a:off x="5642451" y="6120464"/>
            <a:ext cx="3037332" cy="1632976"/>
          </a:xfrm>
          <a:prstGeom prst="rect">
            <a:avLst/>
          </a:prstGeom>
        </p:spPr>
        <p:txBody>
          <a:bodyPr lIns="0" tIns="0" rIns="0" bIns="0" rtlCol="0" anchor="t">
            <a:spAutoFit/>
          </a:bodyPr>
          <a:lstStyle/>
          <a:p>
            <a:pPr algn="ctr">
              <a:lnSpc>
                <a:spcPts val="2618"/>
              </a:lnSpc>
            </a:pPr>
            <a:r>
              <a:rPr lang="en-US" sz="1678" b="1">
                <a:solidFill>
                  <a:srgbClr val="242424"/>
                </a:solidFill>
                <a:latin typeface="Inter Medium"/>
                <a:ea typeface="Inter Medium"/>
                <a:cs typeface="Inter Medium"/>
                <a:sym typeface="Inter Medium"/>
              </a:rPr>
              <a:t>Custom Transformer Based Models </a:t>
            </a:r>
          </a:p>
          <a:p>
            <a:pPr algn="ctr">
              <a:lnSpc>
                <a:spcPts val="2618"/>
              </a:lnSpc>
            </a:pPr>
            <a:endParaRPr lang="en-US" sz="1678" b="1">
              <a:solidFill>
                <a:srgbClr val="242424"/>
              </a:solidFill>
              <a:latin typeface="Inter Medium"/>
              <a:ea typeface="Inter Medium"/>
              <a:cs typeface="Inter Medium"/>
              <a:sym typeface="Inter Medium"/>
            </a:endParaRPr>
          </a:p>
          <a:p>
            <a:pPr algn="ctr">
              <a:lnSpc>
                <a:spcPts val="2618"/>
              </a:lnSpc>
            </a:pPr>
            <a:r>
              <a:rPr lang="en-US" sz="1678" b="1">
                <a:solidFill>
                  <a:srgbClr val="242424"/>
                </a:solidFill>
                <a:latin typeface="Inter Medium"/>
                <a:ea typeface="Inter Medium"/>
                <a:cs typeface="Inter Medium"/>
                <a:sym typeface="Inter Medium"/>
              </a:rPr>
              <a:t>on the general detector dataset</a:t>
            </a:r>
          </a:p>
        </p:txBody>
      </p:sp>
      <p:grpSp>
        <p:nvGrpSpPr>
          <p:cNvPr id="18" name="Group 18"/>
          <p:cNvGrpSpPr/>
          <p:nvPr/>
        </p:nvGrpSpPr>
        <p:grpSpPr>
          <a:xfrm>
            <a:off x="9278128" y="4929197"/>
            <a:ext cx="3699065" cy="3654992"/>
            <a:chOff x="0" y="0"/>
            <a:chExt cx="1044854" cy="1032405"/>
          </a:xfrm>
        </p:grpSpPr>
        <p:sp>
          <p:nvSpPr>
            <p:cNvPr id="19" name="Freeform 19"/>
            <p:cNvSpPr/>
            <p:nvPr/>
          </p:nvSpPr>
          <p:spPr>
            <a:xfrm>
              <a:off x="0" y="0"/>
              <a:ext cx="1044854" cy="1032405"/>
            </a:xfrm>
            <a:custGeom>
              <a:avLst/>
              <a:gdLst/>
              <a:ahLst/>
              <a:cxnLst/>
              <a:rect l="l" t="t" r="r" b="b"/>
              <a:pathLst>
                <a:path w="1044854" h="1032405">
                  <a:moveTo>
                    <a:pt x="23022" y="0"/>
                  </a:moveTo>
                  <a:lnTo>
                    <a:pt x="1021832" y="0"/>
                  </a:lnTo>
                  <a:cubicBezTo>
                    <a:pt x="1027938" y="0"/>
                    <a:pt x="1033794" y="2426"/>
                    <a:pt x="1038111" y="6743"/>
                  </a:cubicBezTo>
                  <a:cubicBezTo>
                    <a:pt x="1042429" y="11061"/>
                    <a:pt x="1044854" y="16916"/>
                    <a:pt x="1044854" y="23022"/>
                  </a:cubicBezTo>
                  <a:lnTo>
                    <a:pt x="1044854" y="1009383"/>
                  </a:lnTo>
                  <a:cubicBezTo>
                    <a:pt x="1044854" y="1015489"/>
                    <a:pt x="1042429" y="1021344"/>
                    <a:pt x="1038111" y="1025662"/>
                  </a:cubicBezTo>
                  <a:cubicBezTo>
                    <a:pt x="1033794" y="1029979"/>
                    <a:pt x="1027938" y="1032405"/>
                    <a:pt x="1021832" y="1032405"/>
                  </a:cubicBezTo>
                  <a:lnTo>
                    <a:pt x="23022" y="1032405"/>
                  </a:lnTo>
                  <a:cubicBezTo>
                    <a:pt x="16916" y="1032405"/>
                    <a:pt x="11061" y="1029979"/>
                    <a:pt x="6743" y="1025662"/>
                  </a:cubicBezTo>
                  <a:cubicBezTo>
                    <a:pt x="2426" y="1021344"/>
                    <a:pt x="0" y="1015489"/>
                    <a:pt x="0" y="1009383"/>
                  </a:cubicBezTo>
                  <a:lnTo>
                    <a:pt x="0" y="23022"/>
                  </a:lnTo>
                  <a:cubicBezTo>
                    <a:pt x="0" y="16916"/>
                    <a:pt x="2426" y="11061"/>
                    <a:pt x="6743" y="6743"/>
                  </a:cubicBezTo>
                  <a:cubicBezTo>
                    <a:pt x="11061" y="2426"/>
                    <a:pt x="16916" y="0"/>
                    <a:pt x="23022" y="0"/>
                  </a:cubicBezTo>
                  <a:close/>
                </a:path>
              </a:pathLst>
            </a:custGeom>
            <a:solidFill>
              <a:srgbClr val="B0E4E8"/>
            </a:solidFill>
          </p:spPr>
        </p:sp>
        <p:sp>
          <p:nvSpPr>
            <p:cNvPr id="20" name="TextBox 20"/>
            <p:cNvSpPr txBox="1"/>
            <p:nvPr/>
          </p:nvSpPr>
          <p:spPr>
            <a:xfrm>
              <a:off x="0" y="38100"/>
              <a:ext cx="1044854" cy="994305"/>
            </a:xfrm>
            <a:prstGeom prst="rect">
              <a:avLst/>
            </a:prstGeom>
          </p:spPr>
          <p:txBody>
            <a:bodyPr lIns="50800" tIns="50800" rIns="50800" bIns="50800" rtlCol="0" anchor="ctr"/>
            <a:lstStyle/>
            <a:p>
              <a:pPr algn="ctr">
                <a:lnSpc>
                  <a:spcPts val="2266"/>
                </a:lnSpc>
              </a:pPr>
              <a:endParaRPr/>
            </a:p>
          </p:txBody>
        </p:sp>
      </p:grpSp>
      <p:sp>
        <p:nvSpPr>
          <p:cNvPr id="21" name="TextBox 21"/>
          <p:cNvSpPr txBox="1"/>
          <p:nvPr/>
        </p:nvSpPr>
        <p:spPr>
          <a:xfrm>
            <a:off x="10103250" y="5368004"/>
            <a:ext cx="2048821" cy="647431"/>
          </a:xfrm>
          <a:prstGeom prst="rect">
            <a:avLst/>
          </a:prstGeom>
        </p:spPr>
        <p:txBody>
          <a:bodyPr lIns="0" tIns="0" rIns="0" bIns="0" rtlCol="0" anchor="t">
            <a:spAutoFit/>
          </a:bodyPr>
          <a:lstStyle/>
          <a:p>
            <a:pPr algn="ctr">
              <a:lnSpc>
                <a:spcPts val="4801"/>
              </a:lnSpc>
            </a:pPr>
            <a:r>
              <a:rPr lang="en-US" sz="4662" b="1">
                <a:solidFill>
                  <a:srgbClr val="242424"/>
                </a:solidFill>
                <a:latin typeface="Inter Bold"/>
                <a:ea typeface="Inter Bold"/>
                <a:cs typeface="Inter Bold"/>
                <a:sym typeface="Inter Bold"/>
              </a:rPr>
              <a:t>03</a:t>
            </a:r>
          </a:p>
        </p:txBody>
      </p:sp>
      <p:sp>
        <p:nvSpPr>
          <p:cNvPr id="22" name="TextBox 22"/>
          <p:cNvSpPr txBox="1"/>
          <p:nvPr/>
        </p:nvSpPr>
        <p:spPr>
          <a:xfrm>
            <a:off x="9608995" y="6120464"/>
            <a:ext cx="3037332" cy="1304369"/>
          </a:xfrm>
          <a:prstGeom prst="rect">
            <a:avLst/>
          </a:prstGeom>
        </p:spPr>
        <p:txBody>
          <a:bodyPr lIns="0" tIns="0" rIns="0" bIns="0" rtlCol="0" anchor="t">
            <a:spAutoFit/>
          </a:bodyPr>
          <a:lstStyle/>
          <a:p>
            <a:pPr algn="ctr">
              <a:lnSpc>
                <a:spcPts val="2618"/>
              </a:lnSpc>
            </a:pPr>
            <a:r>
              <a:rPr lang="en-US" sz="1678" b="1">
                <a:solidFill>
                  <a:srgbClr val="242424"/>
                </a:solidFill>
                <a:latin typeface="Inter Medium"/>
                <a:ea typeface="Inter Medium"/>
                <a:cs typeface="Inter Medium"/>
                <a:sym typeface="Inter Medium"/>
              </a:rPr>
              <a:t>Pre-trained Model</a:t>
            </a:r>
          </a:p>
          <a:p>
            <a:pPr algn="ctr">
              <a:lnSpc>
                <a:spcPts val="2618"/>
              </a:lnSpc>
            </a:pPr>
            <a:endParaRPr lang="en-US" sz="1678" b="1">
              <a:solidFill>
                <a:srgbClr val="242424"/>
              </a:solidFill>
              <a:latin typeface="Inter Medium"/>
              <a:ea typeface="Inter Medium"/>
              <a:cs typeface="Inter Medium"/>
              <a:sym typeface="Inter Medium"/>
            </a:endParaRPr>
          </a:p>
          <a:p>
            <a:pPr algn="ctr">
              <a:lnSpc>
                <a:spcPts val="2618"/>
              </a:lnSpc>
            </a:pPr>
            <a:r>
              <a:rPr lang="en-US" sz="1678" b="1">
                <a:solidFill>
                  <a:srgbClr val="242424"/>
                </a:solidFill>
                <a:latin typeface="Inter Medium"/>
                <a:ea typeface="Inter Medium"/>
                <a:cs typeface="Inter Medium"/>
                <a:sym typeface="Inter Medium"/>
              </a:rPr>
              <a:t>On both General detector and on wave detector</a:t>
            </a:r>
          </a:p>
        </p:txBody>
      </p:sp>
      <p:grpSp>
        <p:nvGrpSpPr>
          <p:cNvPr id="23" name="Group 23"/>
          <p:cNvGrpSpPr/>
          <p:nvPr/>
        </p:nvGrpSpPr>
        <p:grpSpPr>
          <a:xfrm>
            <a:off x="13243893" y="4929197"/>
            <a:ext cx="3699065" cy="3654992"/>
            <a:chOff x="0" y="0"/>
            <a:chExt cx="1044854" cy="1032405"/>
          </a:xfrm>
        </p:grpSpPr>
        <p:sp>
          <p:nvSpPr>
            <p:cNvPr id="24" name="Freeform 24"/>
            <p:cNvSpPr/>
            <p:nvPr/>
          </p:nvSpPr>
          <p:spPr>
            <a:xfrm>
              <a:off x="0" y="0"/>
              <a:ext cx="1044854" cy="1032405"/>
            </a:xfrm>
            <a:custGeom>
              <a:avLst/>
              <a:gdLst/>
              <a:ahLst/>
              <a:cxnLst/>
              <a:rect l="l" t="t" r="r" b="b"/>
              <a:pathLst>
                <a:path w="1044854" h="1032405">
                  <a:moveTo>
                    <a:pt x="23022" y="0"/>
                  </a:moveTo>
                  <a:lnTo>
                    <a:pt x="1021832" y="0"/>
                  </a:lnTo>
                  <a:cubicBezTo>
                    <a:pt x="1027938" y="0"/>
                    <a:pt x="1033794" y="2426"/>
                    <a:pt x="1038111" y="6743"/>
                  </a:cubicBezTo>
                  <a:cubicBezTo>
                    <a:pt x="1042429" y="11061"/>
                    <a:pt x="1044854" y="16916"/>
                    <a:pt x="1044854" y="23022"/>
                  </a:cubicBezTo>
                  <a:lnTo>
                    <a:pt x="1044854" y="1009383"/>
                  </a:lnTo>
                  <a:cubicBezTo>
                    <a:pt x="1044854" y="1015489"/>
                    <a:pt x="1042429" y="1021344"/>
                    <a:pt x="1038111" y="1025662"/>
                  </a:cubicBezTo>
                  <a:cubicBezTo>
                    <a:pt x="1033794" y="1029979"/>
                    <a:pt x="1027938" y="1032405"/>
                    <a:pt x="1021832" y="1032405"/>
                  </a:cubicBezTo>
                  <a:lnTo>
                    <a:pt x="23022" y="1032405"/>
                  </a:lnTo>
                  <a:cubicBezTo>
                    <a:pt x="16916" y="1032405"/>
                    <a:pt x="11061" y="1029979"/>
                    <a:pt x="6743" y="1025662"/>
                  </a:cubicBezTo>
                  <a:cubicBezTo>
                    <a:pt x="2426" y="1021344"/>
                    <a:pt x="0" y="1015489"/>
                    <a:pt x="0" y="1009383"/>
                  </a:cubicBezTo>
                  <a:lnTo>
                    <a:pt x="0" y="23022"/>
                  </a:lnTo>
                  <a:cubicBezTo>
                    <a:pt x="0" y="16916"/>
                    <a:pt x="2426" y="11061"/>
                    <a:pt x="6743" y="6743"/>
                  </a:cubicBezTo>
                  <a:cubicBezTo>
                    <a:pt x="11061" y="2426"/>
                    <a:pt x="16916" y="0"/>
                    <a:pt x="23022" y="0"/>
                  </a:cubicBezTo>
                  <a:close/>
                </a:path>
              </a:pathLst>
            </a:custGeom>
            <a:solidFill>
              <a:srgbClr val="B0E4E8"/>
            </a:solidFill>
          </p:spPr>
        </p:sp>
        <p:sp>
          <p:nvSpPr>
            <p:cNvPr id="25" name="TextBox 25"/>
            <p:cNvSpPr txBox="1"/>
            <p:nvPr/>
          </p:nvSpPr>
          <p:spPr>
            <a:xfrm>
              <a:off x="0" y="38100"/>
              <a:ext cx="1044854" cy="994305"/>
            </a:xfrm>
            <a:prstGeom prst="rect">
              <a:avLst/>
            </a:prstGeom>
          </p:spPr>
          <p:txBody>
            <a:bodyPr lIns="50800" tIns="50800" rIns="50800" bIns="50800" rtlCol="0" anchor="ctr"/>
            <a:lstStyle/>
            <a:p>
              <a:pPr algn="ctr">
                <a:lnSpc>
                  <a:spcPts val="2266"/>
                </a:lnSpc>
              </a:pPr>
              <a:endParaRPr/>
            </a:p>
          </p:txBody>
        </p:sp>
      </p:grpSp>
      <p:sp>
        <p:nvSpPr>
          <p:cNvPr id="26" name="TextBox 26"/>
          <p:cNvSpPr txBox="1"/>
          <p:nvPr/>
        </p:nvSpPr>
        <p:spPr>
          <a:xfrm>
            <a:off x="14069015" y="5368004"/>
            <a:ext cx="2048821" cy="647431"/>
          </a:xfrm>
          <a:prstGeom prst="rect">
            <a:avLst/>
          </a:prstGeom>
        </p:spPr>
        <p:txBody>
          <a:bodyPr lIns="0" tIns="0" rIns="0" bIns="0" rtlCol="0" anchor="t">
            <a:spAutoFit/>
          </a:bodyPr>
          <a:lstStyle/>
          <a:p>
            <a:pPr algn="ctr">
              <a:lnSpc>
                <a:spcPts val="4801"/>
              </a:lnSpc>
            </a:pPr>
            <a:r>
              <a:rPr lang="en-US" sz="4662" b="1">
                <a:solidFill>
                  <a:srgbClr val="242424"/>
                </a:solidFill>
                <a:latin typeface="Inter Bold"/>
                <a:ea typeface="Inter Bold"/>
                <a:cs typeface="Inter Bold"/>
                <a:sym typeface="Inter Bold"/>
              </a:rPr>
              <a:t>04</a:t>
            </a:r>
          </a:p>
        </p:txBody>
      </p:sp>
      <p:sp>
        <p:nvSpPr>
          <p:cNvPr id="27" name="TextBox 27"/>
          <p:cNvSpPr txBox="1"/>
          <p:nvPr/>
        </p:nvSpPr>
        <p:spPr>
          <a:xfrm>
            <a:off x="13574760" y="6120464"/>
            <a:ext cx="3037332" cy="324469"/>
          </a:xfrm>
          <a:prstGeom prst="rect">
            <a:avLst/>
          </a:prstGeom>
        </p:spPr>
        <p:txBody>
          <a:bodyPr lIns="0" tIns="0" rIns="0" bIns="0" rtlCol="0" anchor="t">
            <a:spAutoFit/>
          </a:bodyPr>
          <a:lstStyle/>
          <a:p>
            <a:pPr algn="ctr">
              <a:lnSpc>
                <a:spcPts val="2618"/>
              </a:lnSpc>
            </a:pPr>
            <a:r>
              <a:rPr lang="en-US" sz="1678" b="1">
                <a:solidFill>
                  <a:srgbClr val="242424"/>
                </a:solidFill>
                <a:latin typeface="Inter Medium"/>
                <a:ea typeface="Inter Medium"/>
                <a:cs typeface="Inter Medium"/>
                <a:sym typeface="Inter Medium"/>
              </a:rPr>
              <a:t>Limitations/Future Plans</a:t>
            </a:r>
          </a:p>
        </p:txBody>
      </p:sp>
      <p:grpSp>
        <p:nvGrpSpPr>
          <p:cNvPr id="28" name="Group 28"/>
          <p:cNvGrpSpPr/>
          <p:nvPr/>
        </p:nvGrpSpPr>
        <p:grpSpPr>
          <a:xfrm>
            <a:off x="6910089" y="3941853"/>
            <a:ext cx="502056" cy="502056"/>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B0E4E8"/>
            </a:solidFill>
          </p:spPr>
        </p:sp>
        <p:sp>
          <p:nvSpPr>
            <p:cNvPr id="30" name="TextBox 30"/>
            <p:cNvSpPr txBox="1"/>
            <p:nvPr/>
          </p:nvSpPr>
          <p:spPr>
            <a:xfrm>
              <a:off x="127000" y="165100"/>
              <a:ext cx="558800" cy="520700"/>
            </a:xfrm>
            <a:prstGeom prst="rect">
              <a:avLst/>
            </a:prstGeom>
          </p:spPr>
          <p:txBody>
            <a:bodyPr lIns="50800" tIns="50800" rIns="50800" bIns="50800" rtlCol="0" anchor="ctr"/>
            <a:lstStyle/>
            <a:p>
              <a:pPr algn="ctr">
                <a:lnSpc>
                  <a:spcPts val="2266"/>
                </a:lnSpc>
              </a:pPr>
              <a:endParaRPr/>
            </a:p>
          </p:txBody>
        </p:sp>
      </p:grpSp>
      <p:grpSp>
        <p:nvGrpSpPr>
          <p:cNvPr id="31" name="Group 31"/>
          <p:cNvGrpSpPr/>
          <p:nvPr/>
        </p:nvGrpSpPr>
        <p:grpSpPr>
          <a:xfrm>
            <a:off x="10879246" y="3950849"/>
            <a:ext cx="502056" cy="502056"/>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B0E4E8"/>
            </a:solidFill>
          </p:spPr>
        </p:sp>
        <p:sp>
          <p:nvSpPr>
            <p:cNvPr id="33" name="TextBox 33"/>
            <p:cNvSpPr txBox="1"/>
            <p:nvPr/>
          </p:nvSpPr>
          <p:spPr>
            <a:xfrm>
              <a:off x="127000" y="165100"/>
              <a:ext cx="558800" cy="520700"/>
            </a:xfrm>
            <a:prstGeom prst="rect">
              <a:avLst/>
            </a:prstGeom>
          </p:spPr>
          <p:txBody>
            <a:bodyPr lIns="50800" tIns="50800" rIns="50800" bIns="50800" rtlCol="0" anchor="ctr"/>
            <a:lstStyle/>
            <a:p>
              <a:pPr algn="ctr">
                <a:lnSpc>
                  <a:spcPts val="2266"/>
                </a:lnSpc>
              </a:pPr>
              <a:endParaRPr/>
            </a:p>
          </p:txBody>
        </p:sp>
      </p:grpSp>
      <p:grpSp>
        <p:nvGrpSpPr>
          <p:cNvPr id="34" name="Group 34"/>
          <p:cNvGrpSpPr/>
          <p:nvPr/>
        </p:nvGrpSpPr>
        <p:grpSpPr>
          <a:xfrm>
            <a:off x="14842398" y="3950849"/>
            <a:ext cx="502056" cy="502056"/>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B0E4E8"/>
            </a:solidFill>
          </p:spPr>
        </p:sp>
        <p:sp>
          <p:nvSpPr>
            <p:cNvPr id="36" name="TextBox 36"/>
            <p:cNvSpPr txBox="1"/>
            <p:nvPr/>
          </p:nvSpPr>
          <p:spPr>
            <a:xfrm>
              <a:off x="127000" y="165100"/>
              <a:ext cx="558800" cy="520700"/>
            </a:xfrm>
            <a:prstGeom prst="rect">
              <a:avLst/>
            </a:prstGeom>
          </p:spPr>
          <p:txBody>
            <a:bodyPr lIns="50800" tIns="50800" rIns="50800" bIns="50800" rtlCol="0" anchor="ctr"/>
            <a:lstStyle/>
            <a:p>
              <a:pPr algn="ctr">
                <a:lnSpc>
                  <a:spcPts val="2266"/>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TextBox 3"/>
          <p:cNvSpPr txBox="1"/>
          <p:nvPr/>
        </p:nvSpPr>
        <p:spPr>
          <a:xfrm>
            <a:off x="502656" y="453488"/>
            <a:ext cx="10505871"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DATASETS (YOLO FORMAT)</a:t>
            </a:r>
          </a:p>
        </p:txBody>
      </p:sp>
      <p:grpSp>
        <p:nvGrpSpPr>
          <p:cNvPr id="4" name="Group 4"/>
          <p:cNvGrpSpPr/>
          <p:nvPr/>
        </p:nvGrpSpPr>
        <p:grpSpPr>
          <a:xfrm>
            <a:off x="3219870" y="1589111"/>
            <a:ext cx="14039430" cy="3554389"/>
            <a:chOff x="0" y="0"/>
            <a:chExt cx="4659023" cy="1179534"/>
          </a:xfrm>
        </p:grpSpPr>
        <p:sp>
          <p:nvSpPr>
            <p:cNvPr id="5" name="Freeform 5"/>
            <p:cNvSpPr/>
            <p:nvPr/>
          </p:nvSpPr>
          <p:spPr>
            <a:xfrm>
              <a:off x="0" y="0"/>
              <a:ext cx="4659023" cy="1179534"/>
            </a:xfrm>
            <a:custGeom>
              <a:avLst/>
              <a:gdLst/>
              <a:ahLst/>
              <a:cxnLst/>
              <a:rect l="l" t="t" r="r" b="b"/>
              <a:pathLst>
                <a:path w="4659023" h="1179534">
                  <a:moveTo>
                    <a:pt x="6066" y="0"/>
                  </a:moveTo>
                  <a:lnTo>
                    <a:pt x="4652957" y="0"/>
                  </a:lnTo>
                  <a:cubicBezTo>
                    <a:pt x="4654566" y="0"/>
                    <a:pt x="4656109" y="639"/>
                    <a:pt x="4657246" y="1777"/>
                  </a:cubicBezTo>
                  <a:cubicBezTo>
                    <a:pt x="4658384" y="2914"/>
                    <a:pt x="4659023" y="4457"/>
                    <a:pt x="4659023" y="6066"/>
                  </a:cubicBezTo>
                  <a:lnTo>
                    <a:pt x="4659023" y="1173468"/>
                  </a:lnTo>
                  <a:cubicBezTo>
                    <a:pt x="4659023" y="1175077"/>
                    <a:pt x="4658384" y="1176619"/>
                    <a:pt x="4657246" y="1177757"/>
                  </a:cubicBezTo>
                  <a:cubicBezTo>
                    <a:pt x="4656109" y="1178895"/>
                    <a:pt x="4654566" y="1179534"/>
                    <a:pt x="4652957" y="1179534"/>
                  </a:cubicBezTo>
                  <a:lnTo>
                    <a:pt x="6066" y="1179534"/>
                  </a:lnTo>
                  <a:cubicBezTo>
                    <a:pt x="4457" y="1179534"/>
                    <a:pt x="2914" y="1178895"/>
                    <a:pt x="1777" y="1177757"/>
                  </a:cubicBezTo>
                  <a:cubicBezTo>
                    <a:pt x="639" y="1176619"/>
                    <a:pt x="0" y="1175077"/>
                    <a:pt x="0" y="1173468"/>
                  </a:cubicBezTo>
                  <a:lnTo>
                    <a:pt x="0" y="6066"/>
                  </a:lnTo>
                  <a:cubicBezTo>
                    <a:pt x="0" y="4457"/>
                    <a:pt x="639" y="2914"/>
                    <a:pt x="1777" y="1777"/>
                  </a:cubicBezTo>
                  <a:cubicBezTo>
                    <a:pt x="2914" y="639"/>
                    <a:pt x="4457" y="0"/>
                    <a:pt x="6066" y="0"/>
                  </a:cubicBezTo>
                  <a:close/>
                </a:path>
              </a:pathLst>
            </a:custGeom>
            <a:solidFill>
              <a:srgbClr val="214492"/>
            </a:solidFill>
            <a:ln cap="sq">
              <a:noFill/>
              <a:prstDash val="solid"/>
              <a:miter/>
            </a:ln>
          </p:spPr>
        </p:sp>
        <p:sp>
          <p:nvSpPr>
            <p:cNvPr id="6" name="TextBox 6"/>
            <p:cNvSpPr txBox="1"/>
            <p:nvPr/>
          </p:nvSpPr>
          <p:spPr>
            <a:xfrm>
              <a:off x="0" y="0"/>
              <a:ext cx="4659023" cy="1179534"/>
            </a:xfrm>
            <a:prstGeom prst="rect">
              <a:avLst/>
            </a:prstGeom>
          </p:spPr>
          <p:txBody>
            <a:bodyPr lIns="50800" tIns="50800" rIns="50800" bIns="50800" rtlCol="0" anchor="ctr"/>
            <a:lstStyle/>
            <a:p>
              <a:pPr algn="l">
                <a:lnSpc>
                  <a:spcPts val="2879"/>
                </a:lnSpc>
                <a:spcBef>
                  <a:spcPct val="0"/>
                </a:spcBef>
              </a:pPr>
              <a:endParaRPr/>
            </a:p>
          </p:txBody>
        </p:sp>
      </p:grpSp>
      <p:grpSp>
        <p:nvGrpSpPr>
          <p:cNvPr id="7" name="Group 7"/>
          <p:cNvGrpSpPr/>
          <p:nvPr/>
        </p:nvGrpSpPr>
        <p:grpSpPr>
          <a:xfrm>
            <a:off x="3219870" y="6055915"/>
            <a:ext cx="14039430" cy="3202385"/>
            <a:chOff x="0" y="0"/>
            <a:chExt cx="4659023" cy="1062720"/>
          </a:xfrm>
        </p:grpSpPr>
        <p:sp>
          <p:nvSpPr>
            <p:cNvPr id="8" name="Freeform 8"/>
            <p:cNvSpPr/>
            <p:nvPr/>
          </p:nvSpPr>
          <p:spPr>
            <a:xfrm>
              <a:off x="0" y="0"/>
              <a:ext cx="4659023" cy="1062720"/>
            </a:xfrm>
            <a:custGeom>
              <a:avLst/>
              <a:gdLst/>
              <a:ahLst/>
              <a:cxnLst/>
              <a:rect l="l" t="t" r="r" b="b"/>
              <a:pathLst>
                <a:path w="4659023" h="1062720">
                  <a:moveTo>
                    <a:pt x="6066" y="0"/>
                  </a:moveTo>
                  <a:lnTo>
                    <a:pt x="4652957" y="0"/>
                  </a:lnTo>
                  <a:cubicBezTo>
                    <a:pt x="4654566" y="0"/>
                    <a:pt x="4656109" y="639"/>
                    <a:pt x="4657246" y="1777"/>
                  </a:cubicBezTo>
                  <a:cubicBezTo>
                    <a:pt x="4658384" y="2914"/>
                    <a:pt x="4659023" y="4457"/>
                    <a:pt x="4659023" y="6066"/>
                  </a:cubicBezTo>
                  <a:lnTo>
                    <a:pt x="4659023" y="1056654"/>
                  </a:lnTo>
                  <a:cubicBezTo>
                    <a:pt x="4659023" y="1058263"/>
                    <a:pt x="4658384" y="1059806"/>
                    <a:pt x="4657246" y="1060943"/>
                  </a:cubicBezTo>
                  <a:cubicBezTo>
                    <a:pt x="4656109" y="1062081"/>
                    <a:pt x="4654566" y="1062720"/>
                    <a:pt x="4652957" y="1062720"/>
                  </a:cubicBezTo>
                  <a:lnTo>
                    <a:pt x="6066" y="1062720"/>
                  </a:lnTo>
                  <a:cubicBezTo>
                    <a:pt x="4457" y="1062720"/>
                    <a:pt x="2914" y="1062081"/>
                    <a:pt x="1777" y="1060943"/>
                  </a:cubicBezTo>
                  <a:cubicBezTo>
                    <a:pt x="639" y="1059806"/>
                    <a:pt x="0" y="1058263"/>
                    <a:pt x="0" y="1056654"/>
                  </a:cubicBezTo>
                  <a:lnTo>
                    <a:pt x="0" y="6066"/>
                  </a:lnTo>
                  <a:cubicBezTo>
                    <a:pt x="0" y="4457"/>
                    <a:pt x="639" y="2914"/>
                    <a:pt x="1777" y="1777"/>
                  </a:cubicBezTo>
                  <a:cubicBezTo>
                    <a:pt x="2914" y="639"/>
                    <a:pt x="4457" y="0"/>
                    <a:pt x="6066" y="0"/>
                  </a:cubicBezTo>
                  <a:close/>
                </a:path>
              </a:pathLst>
            </a:custGeom>
            <a:solidFill>
              <a:srgbClr val="214492"/>
            </a:solidFill>
            <a:ln cap="sq">
              <a:noFill/>
              <a:prstDash val="solid"/>
              <a:miter/>
            </a:ln>
          </p:spPr>
        </p:sp>
        <p:sp>
          <p:nvSpPr>
            <p:cNvPr id="9" name="TextBox 9"/>
            <p:cNvSpPr txBox="1"/>
            <p:nvPr/>
          </p:nvSpPr>
          <p:spPr>
            <a:xfrm>
              <a:off x="0" y="0"/>
              <a:ext cx="4659023" cy="1062720"/>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10" name="TextBox 10"/>
          <p:cNvSpPr txBox="1"/>
          <p:nvPr/>
        </p:nvSpPr>
        <p:spPr>
          <a:xfrm>
            <a:off x="3219870" y="1695048"/>
            <a:ext cx="13822070" cy="2887981"/>
          </a:xfrm>
          <a:prstGeom prst="rect">
            <a:avLst/>
          </a:prstGeom>
        </p:spPr>
        <p:txBody>
          <a:bodyPr lIns="0" tIns="0" rIns="0" bIns="0" rtlCol="0" anchor="t">
            <a:spAutoFit/>
          </a:bodyPr>
          <a:lstStyle/>
          <a:p>
            <a:pPr marL="0" lvl="0" indent="0" algn="ctr">
              <a:lnSpc>
                <a:spcPts val="3839"/>
              </a:lnSpc>
            </a:pPr>
            <a:r>
              <a:rPr lang="en-US" sz="2399" b="1" spc="-4">
                <a:solidFill>
                  <a:srgbClr val="FFFFFF"/>
                </a:solidFill>
                <a:latin typeface="Inter Medium"/>
                <a:ea typeface="Inter Medium"/>
                <a:cs typeface="Inter Medium"/>
                <a:sym typeface="Inter Medium"/>
              </a:rPr>
              <a:t>OnWave detection</a:t>
            </a:r>
          </a:p>
          <a:p>
            <a:pPr marL="518155" lvl="1" indent="-259078" algn="l">
              <a:lnSpc>
                <a:spcPts val="3839"/>
              </a:lnSpc>
              <a:buFont typeface="Arial"/>
              <a:buChar char="•"/>
            </a:pPr>
            <a:r>
              <a:rPr lang="en-US" sz="2399" b="1" u="none" spc="-4">
                <a:solidFill>
                  <a:srgbClr val="FFFFFF"/>
                </a:solidFill>
                <a:latin typeface="Inter Medium"/>
                <a:ea typeface="Inter Medium"/>
                <a:cs typeface="Inter Medium"/>
                <a:sym typeface="Inter Medium"/>
              </a:rPr>
              <a:t>Combined two datasets of closeup images of surfers from Roboflow</a:t>
            </a:r>
          </a:p>
          <a:p>
            <a:pPr marL="1036310" lvl="2" indent="-345437" algn="l">
              <a:lnSpc>
                <a:spcPts val="3839"/>
              </a:lnSpc>
              <a:buFont typeface="Arial"/>
              <a:buChar char="⚬"/>
            </a:pPr>
            <a:r>
              <a:rPr lang="en-US" sz="2399" b="1" u="none" spc="-4">
                <a:solidFill>
                  <a:srgbClr val="FFFFFF"/>
                </a:solidFill>
                <a:latin typeface="Inter Medium"/>
                <a:ea typeface="Inter Medium"/>
                <a:cs typeface="Inter Medium"/>
                <a:sym typeface="Inter Medium"/>
              </a:rPr>
              <a:t>267 images with labels of Breaking wave, Non-breaking wave, Pocket, Surfer, Surfer-riding, and wave</a:t>
            </a:r>
          </a:p>
          <a:p>
            <a:pPr marL="1036310" lvl="2" indent="-345437" algn="l">
              <a:lnSpc>
                <a:spcPts val="3839"/>
              </a:lnSpc>
              <a:buFont typeface="Arial"/>
              <a:buChar char="⚬"/>
            </a:pPr>
            <a:r>
              <a:rPr lang="en-US" sz="2399" b="1" u="none" spc="-4">
                <a:solidFill>
                  <a:srgbClr val="FFFFFF"/>
                </a:solidFill>
                <a:latin typeface="Inter Medium"/>
                <a:ea typeface="Inter Medium"/>
                <a:cs typeface="Inter Medium"/>
                <a:sym typeface="Inter Medium"/>
              </a:rPr>
              <a:t>855 images with labels surf, and surfer</a:t>
            </a:r>
          </a:p>
          <a:p>
            <a:pPr marL="1036310" lvl="2" indent="-345437" algn="l">
              <a:lnSpc>
                <a:spcPts val="3839"/>
              </a:lnSpc>
              <a:buFont typeface="Arial"/>
              <a:buChar char="⚬"/>
            </a:pPr>
            <a:r>
              <a:rPr lang="en-US" sz="2399" b="1" u="none" spc="-4">
                <a:solidFill>
                  <a:srgbClr val="FFFFFF"/>
                </a:solidFill>
                <a:latin typeface="Inter Medium"/>
                <a:ea typeface="Inter Medium"/>
                <a:cs typeface="Inter Medium"/>
                <a:sym typeface="Inter Medium"/>
              </a:rPr>
              <a:t>Cleaned labels to be only class 0 if there is a surfer</a:t>
            </a:r>
          </a:p>
        </p:txBody>
      </p:sp>
      <p:sp>
        <p:nvSpPr>
          <p:cNvPr id="11" name="TextBox 11"/>
          <p:cNvSpPr txBox="1"/>
          <p:nvPr/>
        </p:nvSpPr>
        <p:spPr>
          <a:xfrm>
            <a:off x="3461678" y="6161852"/>
            <a:ext cx="13797622" cy="2402206"/>
          </a:xfrm>
          <a:prstGeom prst="rect">
            <a:avLst/>
          </a:prstGeom>
        </p:spPr>
        <p:txBody>
          <a:bodyPr lIns="0" tIns="0" rIns="0" bIns="0" rtlCol="0" anchor="t">
            <a:spAutoFit/>
          </a:bodyPr>
          <a:lstStyle/>
          <a:p>
            <a:pPr marL="0" lvl="0" indent="0" algn="ctr">
              <a:lnSpc>
                <a:spcPts val="3839"/>
              </a:lnSpc>
            </a:pPr>
            <a:r>
              <a:rPr lang="en-US" sz="2399" b="1" spc="-4">
                <a:solidFill>
                  <a:srgbClr val="FFFFFF"/>
                </a:solidFill>
                <a:latin typeface="Inter Medium"/>
                <a:ea typeface="Inter Medium"/>
                <a:cs typeface="Inter Medium"/>
                <a:sym typeface="Inter Medium"/>
              </a:rPr>
              <a:t>General Detection</a:t>
            </a:r>
          </a:p>
          <a:p>
            <a:pPr marL="518155" lvl="1" indent="-259078" algn="l">
              <a:lnSpc>
                <a:spcPts val="3839"/>
              </a:lnSpc>
              <a:buFont typeface="Arial"/>
              <a:buChar char="•"/>
            </a:pPr>
            <a:r>
              <a:rPr lang="en-US" sz="2399" b="1" u="none" spc="-4">
                <a:solidFill>
                  <a:srgbClr val="FFFFFF"/>
                </a:solidFill>
                <a:latin typeface="Inter Medium"/>
                <a:ea typeface="Inter Medium"/>
                <a:cs typeface="Inter Medium"/>
                <a:sym typeface="Inter Medium"/>
              </a:rPr>
              <a:t>30k images from Roboflow with label surfer (0-27 surfers)</a:t>
            </a:r>
          </a:p>
          <a:p>
            <a:pPr marL="518155" lvl="1" indent="-259078" algn="l">
              <a:lnSpc>
                <a:spcPts val="3839"/>
              </a:lnSpc>
              <a:buFont typeface="Arial"/>
              <a:buChar char="•"/>
            </a:pPr>
            <a:r>
              <a:rPr lang="en-US" sz="2399" b="1" u="none" spc="-4">
                <a:solidFill>
                  <a:srgbClr val="FFFFFF"/>
                </a:solidFill>
                <a:latin typeface="Inter Medium"/>
                <a:ea typeface="Inter Medium"/>
                <a:cs typeface="Inter Medium"/>
                <a:sym typeface="Inter Medium"/>
              </a:rPr>
              <a:t>19k of the images had no surfers (no label)</a:t>
            </a:r>
          </a:p>
          <a:p>
            <a:pPr marL="518155" lvl="1" indent="-259078" algn="l">
              <a:lnSpc>
                <a:spcPts val="3839"/>
              </a:lnSpc>
              <a:buFont typeface="Arial"/>
              <a:buChar char="•"/>
            </a:pPr>
            <a:r>
              <a:rPr lang="en-US" sz="2399" b="1" u="none" spc="-4">
                <a:solidFill>
                  <a:srgbClr val="FFFFFF"/>
                </a:solidFill>
                <a:latin typeface="Inter Medium"/>
                <a:ea typeface="Inter Medium"/>
                <a:cs typeface="Inter Medium"/>
                <a:sym typeface="Inter Medium"/>
              </a:rPr>
              <a:t>These images were 224x224, and from very far away, the surfers were very small in the image</a:t>
            </a:r>
          </a:p>
        </p:txBody>
      </p:sp>
      <p:grpSp>
        <p:nvGrpSpPr>
          <p:cNvPr id="12" name="Group 12"/>
          <p:cNvGrpSpPr/>
          <p:nvPr/>
        </p:nvGrpSpPr>
        <p:grpSpPr>
          <a:xfrm>
            <a:off x="1028700" y="1589111"/>
            <a:ext cx="1666540" cy="3554389"/>
            <a:chOff x="0" y="0"/>
            <a:chExt cx="553046" cy="1179534"/>
          </a:xfrm>
        </p:grpSpPr>
        <p:sp>
          <p:nvSpPr>
            <p:cNvPr id="13" name="Freeform 13"/>
            <p:cNvSpPr/>
            <p:nvPr/>
          </p:nvSpPr>
          <p:spPr>
            <a:xfrm>
              <a:off x="0" y="0"/>
              <a:ext cx="553046" cy="1179534"/>
            </a:xfrm>
            <a:custGeom>
              <a:avLst/>
              <a:gdLst/>
              <a:ahLst/>
              <a:cxnLst/>
              <a:rect l="l" t="t" r="r" b="b"/>
              <a:pathLst>
                <a:path w="553046" h="1179534">
                  <a:moveTo>
                    <a:pt x="51101" y="0"/>
                  </a:moveTo>
                  <a:lnTo>
                    <a:pt x="501945" y="0"/>
                  </a:lnTo>
                  <a:cubicBezTo>
                    <a:pt x="515498" y="0"/>
                    <a:pt x="528495" y="5384"/>
                    <a:pt x="538079" y="14967"/>
                  </a:cubicBezTo>
                  <a:cubicBezTo>
                    <a:pt x="547662" y="24550"/>
                    <a:pt x="553046" y="37548"/>
                    <a:pt x="553046" y="51101"/>
                  </a:cubicBezTo>
                  <a:lnTo>
                    <a:pt x="553046" y="1128433"/>
                  </a:lnTo>
                  <a:cubicBezTo>
                    <a:pt x="553046" y="1156655"/>
                    <a:pt x="530167" y="1179534"/>
                    <a:pt x="501945" y="1179534"/>
                  </a:cubicBezTo>
                  <a:lnTo>
                    <a:pt x="51101" y="1179534"/>
                  </a:lnTo>
                  <a:cubicBezTo>
                    <a:pt x="22879" y="1179534"/>
                    <a:pt x="0" y="1156655"/>
                    <a:pt x="0" y="1128433"/>
                  </a:cubicBezTo>
                  <a:lnTo>
                    <a:pt x="0" y="51101"/>
                  </a:lnTo>
                  <a:cubicBezTo>
                    <a:pt x="0" y="22879"/>
                    <a:pt x="22879" y="0"/>
                    <a:pt x="51101" y="0"/>
                  </a:cubicBezTo>
                  <a:close/>
                </a:path>
              </a:pathLst>
            </a:custGeom>
            <a:solidFill>
              <a:srgbClr val="214492"/>
            </a:solidFill>
            <a:ln cap="sq">
              <a:noFill/>
              <a:prstDash val="solid"/>
              <a:miter/>
            </a:ln>
          </p:spPr>
        </p:sp>
        <p:sp>
          <p:nvSpPr>
            <p:cNvPr id="14" name="TextBox 14"/>
            <p:cNvSpPr txBox="1"/>
            <p:nvPr/>
          </p:nvSpPr>
          <p:spPr>
            <a:xfrm>
              <a:off x="0" y="0"/>
              <a:ext cx="553046" cy="1179534"/>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15" name="TextBox 15"/>
          <p:cNvSpPr txBox="1"/>
          <p:nvPr/>
        </p:nvSpPr>
        <p:spPr>
          <a:xfrm>
            <a:off x="1239428" y="2234668"/>
            <a:ext cx="1245083" cy="2044200"/>
          </a:xfrm>
          <a:prstGeom prst="rect">
            <a:avLst/>
          </a:prstGeom>
        </p:spPr>
        <p:txBody>
          <a:bodyPr lIns="0" tIns="0" rIns="0" bIns="0" rtlCol="0" anchor="t">
            <a:spAutoFit/>
          </a:bodyPr>
          <a:lstStyle/>
          <a:p>
            <a:pPr algn="ctr">
              <a:lnSpc>
                <a:spcPts val="13204"/>
              </a:lnSpc>
            </a:pPr>
            <a:r>
              <a:rPr lang="en-US" sz="12004" b="1">
                <a:solidFill>
                  <a:srgbClr val="B0E4E8"/>
                </a:solidFill>
                <a:latin typeface="Agrandir Narrow Bold"/>
                <a:ea typeface="Agrandir Narrow Bold"/>
                <a:cs typeface="Agrandir Narrow Bold"/>
                <a:sym typeface="Agrandir Narrow Bold"/>
              </a:rPr>
              <a:t>1</a:t>
            </a:r>
          </a:p>
        </p:txBody>
      </p:sp>
      <p:grpSp>
        <p:nvGrpSpPr>
          <p:cNvPr id="16" name="Group 16"/>
          <p:cNvGrpSpPr/>
          <p:nvPr/>
        </p:nvGrpSpPr>
        <p:grpSpPr>
          <a:xfrm>
            <a:off x="1028700" y="6055915"/>
            <a:ext cx="1666540" cy="3202385"/>
            <a:chOff x="0" y="0"/>
            <a:chExt cx="553046" cy="1062720"/>
          </a:xfrm>
        </p:grpSpPr>
        <p:sp>
          <p:nvSpPr>
            <p:cNvPr id="17" name="Freeform 17"/>
            <p:cNvSpPr/>
            <p:nvPr/>
          </p:nvSpPr>
          <p:spPr>
            <a:xfrm>
              <a:off x="0" y="0"/>
              <a:ext cx="553046" cy="1062720"/>
            </a:xfrm>
            <a:custGeom>
              <a:avLst/>
              <a:gdLst/>
              <a:ahLst/>
              <a:cxnLst/>
              <a:rect l="l" t="t" r="r" b="b"/>
              <a:pathLst>
                <a:path w="553046" h="1062720">
                  <a:moveTo>
                    <a:pt x="51101" y="0"/>
                  </a:moveTo>
                  <a:lnTo>
                    <a:pt x="501945" y="0"/>
                  </a:lnTo>
                  <a:cubicBezTo>
                    <a:pt x="515498" y="0"/>
                    <a:pt x="528495" y="5384"/>
                    <a:pt x="538079" y="14967"/>
                  </a:cubicBezTo>
                  <a:cubicBezTo>
                    <a:pt x="547662" y="24550"/>
                    <a:pt x="553046" y="37548"/>
                    <a:pt x="553046" y="51101"/>
                  </a:cubicBezTo>
                  <a:lnTo>
                    <a:pt x="553046" y="1011620"/>
                  </a:lnTo>
                  <a:cubicBezTo>
                    <a:pt x="553046" y="1039842"/>
                    <a:pt x="530167" y="1062720"/>
                    <a:pt x="501945" y="1062720"/>
                  </a:cubicBezTo>
                  <a:lnTo>
                    <a:pt x="51101" y="1062720"/>
                  </a:lnTo>
                  <a:cubicBezTo>
                    <a:pt x="22879" y="1062720"/>
                    <a:pt x="0" y="1039842"/>
                    <a:pt x="0" y="1011620"/>
                  </a:cubicBezTo>
                  <a:lnTo>
                    <a:pt x="0" y="51101"/>
                  </a:lnTo>
                  <a:cubicBezTo>
                    <a:pt x="0" y="22879"/>
                    <a:pt x="22879" y="0"/>
                    <a:pt x="51101" y="0"/>
                  </a:cubicBezTo>
                  <a:close/>
                </a:path>
              </a:pathLst>
            </a:custGeom>
            <a:solidFill>
              <a:srgbClr val="214492"/>
            </a:solidFill>
            <a:ln cap="sq">
              <a:noFill/>
              <a:prstDash val="solid"/>
              <a:miter/>
            </a:ln>
          </p:spPr>
        </p:sp>
        <p:sp>
          <p:nvSpPr>
            <p:cNvPr id="18" name="TextBox 18"/>
            <p:cNvSpPr txBox="1"/>
            <p:nvPr/>
          </p:nvSpPr>
          <p:spPr>
            <a:xfrm>
              <a:off x="0" y="0"/>
              <a:ext cx="553046" cy="1062720"/>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19" name="TextBox 19"/>
          <p:cNvSpPr txBox="1"/>
          <p:nvPr/>
        </p:nvSpPr>
        <p:spPr>
          <a:xfrm>
            <a:off x="1239428" y="6460871"/>
            <a:ext cx="1245083" cy="2044200"/>
          </a:xfrm>
          <a:prstGeom prst="rect">
            <a:avLst/>
          </a:prstGeom>
        </p:spPr>
        <p:txBody>
          <a:bodyPr lIns="0" tIns="0" rIns="0" bIns="0" rtlCol="0" anchor="t">
            <a:spAutoFit/>
          </a:bodyPr>
          <a:lstStyle/>
          <a:p>
            <a:pPr algn="ctr">
              <a:lnSpc>
                <a:spcPts val="13204"/>
              </a:lnSpc>
            </a:pPr>
            <a:r>
              <a:rPr lang="en-US" sz="12004" b="1">
                <a:solidFill>
                  <a:srgbClr val="B0E4E8"/>
                </a:solidFill>
                <a:latin typeface="Agrandir Narrow Bold"/>
                <a:ea typeface="Agrandir Narrow Bold"/>
                <a:cs typeface="Agrandir Narrow Bold"/>
                <a:sym typeface="Agrandir Narrow Bold"/>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Freeform 3"/>
          <p:cNvSpPr/>
          <p:nvPr/>
        </p:nvSpPr>
        <p:spPr>
          <a:xfrm>
            <a:off x="766996" y="3204795"/>
            <a:ext cx="7362475" cy="6346318"/>
          </a:xfrm>
          <a:custGeom>
            <a:avLst/>
            <a:gdLst/>
            <a:ahLst/>
            <a:cxnLst/>
            <a:rect l="l" t="t" r="r" b="b"/>
            <a:pathLst>
              <a:path w="7362475" h="6346318">
                <a:moveTo>
                  <a:pt x="0" y="0"/>
                </a:moveTo>
                <a:lnTo>
                  <a:pt x="7362474" y="0"/>
                </a:lnTo>
                <a:lnTo>
                  <a:pt x="7362474" y="6346318"/>
                </a:lnTo>
                <a:lnTo>
                  <a:pt x="0" y="6346318"/>
                </a:lnTo>
                <a:lnTo>
                  <a:pt x="0" y="0"/>
                </a:lnTo>
                <a:close/>
              </a:path>
            </a:pathLst>
          </a:custGeom>
          <a:blipFill>
            <a:blip r:embed="rId4"/>
            <a:stretch>
              <a:fillRect t="-7570" b="-7570"/>
            </a:stretch>
          </a:blipFill>
        </p:spPr>
      </p:sp>
      <p:sp>
        <p:nvSpPr>
          <p:cNvPr id="4" name="Freeform 4"/>
          <p:cNvSpPr/>
          <p:nvPr/>
        </p:nvSpPr>
        <p:spPr>
          <a:xfrm>
            <a:off x="9144000" y="3204795"/>
            <a:ext cx="8651835" cy="6300452"/>
          </a:xfrm>
          <a:custGeom>
            <a:avLst/>
            <a:gdLst/>
            <a:ahLst/>
            <a:cxnLst/>
            <a:rect l="l" t="t" r="r" b="b"/>
            <a:pathLst>
              <a:path w="8651835" h="6300452">
                <a:moveTo>
                  <a:pt x="0" y="0"/>
                </a:moveTo>
                <a:lnTo>
                  <a:pt x="8651835" y="0"/>
                </a:lnTo>
                <a:lnTo>
                  <a:pt x="8651835" y="6300452"/>
                </a:lnTo>
                <a:lnTo>
                  <a:pt x="0" y="6300452"/>
                </a:lnTo>
                <a:lnTo>
                  <a:pt x="0" y="0"/>
                </a:lnTo>
                <a:close/>
              </a:path>
            </a:pathLst>
          </a:custGeom>
          <a:blipFill>
            <a:blip r:embed="rId5"/>
            <a:stretch>
              <a:fillRect l="-30622"/>
            </a:stretch>
          </a:blipFill>
        </p:spPr>
      </p:sp>
      <p:sp>
        <p:nvSpPr>
          <p:cNvPr id="5" name="TextBox 5"/>
          <p:cNvSpPr txBox="1"/>
          <p:nvPr/>
        </p:nvSpPr>
        <p:spPr>
          <a:xfrm>
            <a:off x="0" y="456867"/>
            <a:ext cx="12989152" cy="1029367"/>
          </a:xfrm>
          <a:prstGeom prst="rect">
            <a:avLst/>
          </a:prstGeom>
        </p:spPr>
        <p:txBody>
          <a:bodyPr lIns="0" tIns="0" rIns="0" bIns="0" rtlCol="0" anchor="t">
            <a:spAutoFit/>
          </a:bodyPr>
          <a:lstStyle/>
          <a:p>
            <a:pPr algn="ctr">
              <a:lnSpc>
                <a:spcPts val="6657"/>
              </a:lnSpc>
            </a:pPr>
            <a:r>
              <a:rPr lang="en-US" sz="6052" b="1">
                <a:solidFill>
                  <a:srgbClr val="FFFFFF"/>
                </a:solidFill>
                <a:latin typeface="Agrandir Narrow Bold"/>
                <a:ea typeface="Agrandir Narrow Bold"/>
                <a:cs typeface="Agrandir Narrow Bold"/>
                <a:sym typeface="Agrandir Narrow Bold"/>
              </a:rPr>
              <a:t>SAMPLES FROM EACH DATASET</a:t>
            </a:r>
          </a:p>
        </p:txBody>
      </p:sp>
      <p:sp>
        <p:nvSpPr>
          <p:cNvPr id="6" name="TextBox 6"/>
          <p:cNvSpPr txBox="1"/>
          <p:nvPr/>
        </p:nvSpPr>
        <p:spPr>
          <a:xfrm>
            <a:off x="766996" y="2349104"/>
            <a:ext cx="3883358" cy="1154162"/>
          </a:xfrm>
          <a:prstGeom prst="rect">
            <a:avLst/>
          </a:prstGeom>
        </p:spPr>
        <p:txBody>
          <a:bodyPr wrap="square" lIns="0" tIns="0" rIns="0" bIns="0" rtlCol="0" anchor="t">
            <a:spAutoFit/>
          </a:bodyPr>
          <a:lstStyle/>
          <a:p>
            <a:pPr algn="ctr">
              <a:lnSpc>
                <a:spcPts val="4531"/>
              </a:lnSpc>
              <a:spcBef>
                <a:spcPct val="0"/>
              </a:spcBef>
            </a:pPr>
            <a:r>
              <a:rPr lang="en-US" sz="3776" dirty="0">
                <a:solidFill>
                  <a:srgbClr val="FFFFFF"/>
                </a:solidFill>
                <a:latin typeface="Inter"/>
                <a:ea typeface="Inter"/>
                <a:cs typeface="Inter"/>
                <a:sym typeface="Inter"/>
              </a:rPr>
              <a:t>General Detector</a:t>
            </a:r>
          </a:p>
        </p:txBody>
      </p:sp>
      <p:sp>
        <p:nvSpPr>
          <p:cNvPr id="7" name="TextBox 7"/>
          <p:cNvSpPr txBox="1"/>
          <p:nvPr/>
        </p:nvSpPr>
        <p:spPr>
          <a:xfrm>
            <a:off x="9144000" y="2349104"/>
            <a:ext cx="4173755" cy="579078"/>
          </a:xfrm>
          <a:prstGeom prst="rect">
            <a:avLst/>
          </a:prstGeom>
        </p:spPr>
        <p:txBody>
          <a:bodyPr lIns="0" tIns="0" rIns="0" bIns="0" rtlCol="0" anchor="t">
            <a:spAutoFit/>
          </a:bodyPr>
          <a:lstStyle/>
          <a:p>
            <a:pPr algn="ctr">
              <a:lnSpc>
                <a:spcPts val="4531"/>
              </a:lnSpc>
              <a:spcBef>
                <a:spcPct val="0"/>
              </a:spcBef>
            </a:pPr>
            <a:r>
              <a:rPr lang="en-US" sz="3776">
                <a:solidFill>
                  <a:srgbClr val="FFFFFF"/>
                </a:solidFill>
                <a:latin typeface="Inter"/>
                <a:ea typeface="Inter"/>
                <a:cs typeface="Inter"/>
                <a:sym typeface="Inter"/>
              </a:rPr>
              <a:t>On-wave Detector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Freeform 3"/>
          <p:cNvSpPr/>
          <p:nvPr/>
        </p:nvSpPr>
        <p:spPr>
          <a:xfrm>
            <a:off x="207920" y="2697169"/>
            <a:ext cx="8430143" cy="5616583"/>
          </a:xfrm>
          <a:custGeom>
            <a:avLst/>
            <a:gdLst/>
            <a:ahLst/>
            <a:cxnLst/>
            <a:rect l="l" t="t" r="r" b="b"/>
            <a:pathLst>
              <a:path w="8430143" h="5616583">
                <a:moveTo>
                  <a:pt x="0" y="0"/>
                </a:moveTo>
                <a:lnTo>
                  <a:pt x="8430142" y="0"/>
                </a:lnTo>
                <a:lnTo>
                  <a:pt x="8430142" y="5616582"/>
                </a:lnTo>
                <a:lnTo>
                  <a:pt x="0" y="5616582"/>
                </a:lnTo>
                <a:lnTo>
                  <a:pt x="0" y="0"/>
                </a:lnTo>
                <a:close/>
              </a:path>
            </a:pathLst>
          </a:custGeom>
          <a:blipFill>
            <a:blip r:embed="rId4"/>
            <a:stretch>
              <a:fillRect/>
            </a:stretch>
          </a:blipFill>
        </p:spPr>
      </p:sp>
      <p:sp>
        <p:nvSpPr>
          <p:cNvPr id="4" name="Freeform 4"/>
          <p:cNvSpPr/>
          <p:nvPr/>
        </p:nvSpPr>
        <p:spPr>
          <a:xfrm>
            <a:off x="8941670" y="2774750"/>
            <a:ext cx="9198180" cy="5539001"/>
          </a:xfrm>
          <a:custGeom>
            <a:avLst/>
            <a:gdLst/>
            <a:ahLst/>
            <a:cxnLst/>
            <a:rect l="l" t="t" r="r" b="b"/>
            <a:pathLst>
              <a:path w="9198180" h="5539001">
                <a:moveTo>
                  <a:pt x="0" y="0"/>
                </a:moveTo>
                <a:lnTo>
                  <a:pt x="9198180" y="0"/>
                </a:lnTo>
                <a:lnTo>
                  <a:pt x="9198180" y="5539001"/>
                </a:lnTo>
                <a:lnTo>
                  <a:pt x="0" y="5539001"/>
                </a:lnTo>
                <a:lnTo>
                  <a:pt x="0" y="0"/>
                </a:lnTo>
                <a:close/>
              </a:path>
            </a:pathLst>
          </a:custGeom>
          <a:blipFill>
            <a:blip r:embed="rId5"/>
            <a:stretch>
              <a:fillRect l="-710" r="-710"/>
            </a:stretch>
          </a:blipFill>
        </p:spPr>
      </p:sp>
      <p:sp>
        <p:nvSpPr>
          <p:cNvPr id="5" name="TextBox 5"/>
          <p:cNvSpPr txBox="1"/>
          <p:nvPr/>
        </p:nvSpPr>
        <p:spPr>
          <a:xfrm>
            <a:off x="665700" y="453488"/>
            <a:ext cx="7014919"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EDA</a:t>
            </a:r>
          </a:p>
        </p:txBody>
      </p:sp>
      <p:sp>
        <p:nvSpPr>
          <p:cNvPr id="6" name="TextBox 6"/>
          <p:cNvSpPr txBox="1"/>
          <p:nvPr/>
        </p:nvSpPr>
        <p:spPr>
          <a:xfrm>
            <a:off x="665992" y="1843013"/>
            <a:ext cx="3882773" cy="579078"/>
          </a:xfrm>
          <a:prstGeom prst="rect">
            <a:avLst/>
          </a:prstGeom>
        </p:spPr>
        <p:txBody>
          <a:bodyPr lIns="0" tIns="0" rIns="0" bIns="0" rtlCol="0" anchor="t">
            <a:spAutoFit/>
          </a:bodyPr>
          <a:lstStyle/>
          <a:p>
            <a:pPr algn="ctr">
              <a:lnSpc>
                <a:spcPts val="4531"/>
              </a:lnSpc>
              <a:spcBef>
                <a:spcPct val="0"/>
              </a:spcBef>
            </a:pPr>
            <a:r>
              <a:rPr lang="en-US" sz="3776">
                <a:solidFill>
                  <a:srgbClr val="33689C"/>
                </a:solidFill>
                <a:latin typeface="Inter"/>
                <a:ea typeface="Inter"/>
                <a:cs typeface="Inter"/>
                <a:sym typeface="Inter"/>
              </a:rPr>
              <a:t>General Detector</a:t>
            </a:r>
          </a:p>
        </p:txBody>
      </p:sp>
      <p:sp>
        <p:nvSpPr>
          <p:cNvPr id="7" name="TextBox 7"/>
          <p:cNvSpPr txBox="1"/>
          <p:nvPr/>
        </p:nvSpPr>
        <p:spPr>
          <a:xfrm>
            <a:off x="11874687" y="1843013"/>
            <a:ext cx="4173755" cy="579078"/>
          </a:xfrm>
          <a:prstGeom prst="rect">
            <a:avLst/>
          </a:prstGeom>
        </p:spPr>
        <p:txBody>
          <a:bodyPr lIns="0" tIns="0" rIns="0" bIns="0" rtlCol="0" anchor="t">
            <a:spAutoFit/>
          </a:bodyPr>
          <a:lstStyle/>
          <a:p>
            <a:pPr algn="ctr">
              <a:lnSpc>
                <a:spcPts val="4531"/>
              </a:lnSpc>
              <a:spcBef>
                <a:spcPct val="0"/>
              </a:spcBef>
            </a:pPr>
            <a:r>
              <a:rPr lang="en-US" sz="3776">
                <a:solidFill>
                  <a:srgbClr val="33689C"/>
                </a:solidFill>
                <a:latin typeface="Inter"/>
                <a:ea typeface="Inter"/>
                <a:cs typeface="Inter"/>
                <a:sym typeface="Inter"/>
              </a:rPr>
              <a:t>On-wave Detector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TextBox 3"/>
          <p:cNvSpPr txBox="1"/>
          <p:nvPr/>
        </p:nvSpPr>
        <p:spPr>
          <a:xfrm>
            <a:off x="513977" y="1489612"/>
            <a:ext cx="12896421" cy="8686800"/>
          </a:xfrm>
          <a:prstGeom prst="rect">
            <a:avLst/>
          </a:prstGeom>
        </p:spPr>
        <p:txBody>
          <a:bodyPr lIns="0" tIns="0" rIns="0" bIns="0" rtlCol="0" anchor="t">
            <a:spAutoFit/>
          </a:bodyPr>
          <a:lstStyle/>
          <a:p>
            <a:pPr algn="l">
              <a:lnSpc>
                <a:spcPts val="2879"/>
              </a:lnSpc>
            </a:pPr>
            <a:r>
              <a:rPr lang="en-US" sz="2399" b="1">
                <a:solidFill>
                  <a:srgbClr val="000000"/>
                </a:solidFill>
                <a:latin typeface="Inter Bold"/>
                <a:ea typeface="Inter Bold"/>
                <a:cs typeface="Inter Bold"/>
                <a:sym typeface="Inter Bold"/>
              </a:rPr>
              <a:t>Architecture</a:t>
            </a:r>
          </a:p>
          <a:p>
            <a:pPr marL="518158" lvl="1" indent="-259079" algn="l">
              <a:lnSpc>
                <a:spcPts val="2879"/>
              </a:lnSpc>
              <a:buFont typeface="Arial"/>
              <a:buChar char="•"/>
            </a:pPr>
            <a:r>
              <a:rPr lang="en-US" sz="2399" b="1">
                <a:solidFill>
                  <a:srgbClr val="000000"/>
                </a:solidFill>
                <a:latin typeface="Inter Bold"/>
                <a:ea typeface="Inter Bold"/>
                <a:cs typeface="Inter Bold"/>
                <a:sym typeface="Inter Bold"/>
              </a:rPr>
              <a:t>Input Image: </a:t>
            </a:r>
            <a:r>
              <a:rPr lang="en-US" sz="2399">
                <a:solidFill>
                  <a:srgbClr val="000000"/>
                </a:solidFill>
                <a:latin typeface="Inter"/>
                <a:ea typeface="Inter"/>
                <a:cs typeface="Inter"/>
                <a:sym typeface="Inter"/>
              </a:rPr>
              <a:t>224x224 RGB image (3, 224, 224)</a:t>
            </a:r>
          </a:p>
          <a:p>
            <a:pPr marL="518158" lvl="1" indent="-259079" algn="l">
              <a:lnSpc>
                <a:spcPts val="2879"/>
              </a:lnSpc>
              <a:buFont typeface="Arial"/>
              <a:buChar char="•"/>
            </a:pPr>
            <a:r>
              <a:rPr lang="en-US" sz="2399" b="1">
                <a:solidFill>
                  <a:srgbClr val="000000"/>
                </a:solidFill>
                <a:latin typeface="Inter Bold"/>
                <a:ea typeface="Inter Bold"/>
                <a:cs typeface="Inter Bold"/>
                <a:sym typeface="Inter Bold"/>
              </a:rPr>
              <a:t>Custom CNN backbone</a:t>
            </a:r>
            <a:r>
              <a:rPr lang="en-US" sz="2399">
                <a:solidFill>
                  <a:srgbClr val="000000"/>
                </a:solidFill>
                <a:latin typeface="Inter"/>
                <a:ea typeface="Inter"/>
                <a:cs typeface="Inter"/>
                <a:sym typeface="Inter"/>
              </a:rPr>
              <a:t>: 64 → 128 → 256 → 512 channels</a:t>
            </a:r>
          </a:p>
          <a:p>
            <a:pPr marL="1036317" lvl="2" indent="-345439" algn="l">
              <a:lnSpc>
                <a:spcPts val="2879"/>
              </a:lnSpc>
              <a:buFont typeface="Arial"/>
              <a:buChar char="⚬"/>
            </a:pPr>
            <a:r>
              <a:rPr lang="en-US" sz="2399">
                <a:solidFill>
                  <a:srgbClr val="000000"/>
                </a:solidFill>
                <a:latin typeface="Inter"/>
                <a:ea typeface="Inter"/>
                <a:cs typeface="Inter"/>
                <a:sym typeface="Inter"/>
              </a:rPr>
              <a:t>Feature Extraction to shape (512, 7, 7)</a:t>
            </a:r>
          </a:p>
          <a:p>
            <a:pPr marL="1036317" lvl="2" indent="-345439" algn="l">
              <a:lnSpc>
                <a:spcPts val="2879"/>
              </a:lnSpc>
              <a:buFont typeface="Arial"/>
              <a:buChar char="⚬"/>
            </a:pPr>
            <a:r>
              <a:rPr lang="en-US" sz="2399">
                <a:solidFill>
                  <a:srgbClr val="000000"/>
                </a:solidFill>
                <a:latin typeface="Inter"/>
                <a:ea typeface="Inter"/>
                <a:cs typeface="Inter"/>
                <a:sym typeface="Inter"/>
              </a:rPr>
              <a:t>We flatten to (49, 512) then apply 1x1 convolution to (49, 256)</a:t>
            </a:r>
          </a:p>
          <a:p>
            <a:pPr marL="518158" lvl="1" indent="-259079" algn="l">
              <a:lnSpc>
                <a:spcPts val="2879"/>
              </a:lnSpc>
              <a:buFont typeface="Arial"/>
              <a:buChar char="•"/>
            </a:pPr>
            <a:r>
              <a:rPr lang="en-US" sz="2399" b="1">
                <a:solidFill>
                  <a:srgbClr val="000000"/>
                </a:solidFill>
                <a:latin typeface="Inter Bold"/>
                <a:ea typeface="Inter Bold"/>
                <a:cs typeface="Inter Bold"/>
                <a:sym typeface="Inter Bold"/>
              </a:rPr>
              <a:t>Positional Encoding: </a:t>
            </a:r>
            <a:r>
              <a:rPr lang="en-US" sz="2399">
                <a:solidFill>
                  <a:srgbClr val="000000"/>
                </a:solidFill>
                <a:latin typeface="Inter"/>
                <a:ea typeface="Inter"/>
                <a:cs typeface="Inter"/>
                <a:sym typeface="Inter"/>
              </a:rPr>
              <a:t>Sinusoidal positional embeddings added to the 49 feature tokens</a:t>
            </a:r>
          </a:p>
          <a:p>
            <a:pPr marL="518158" lvl="1" indent="-259079" algn="l">
              <a:lnSpc>
                <a:spcPts val="2879"/>
              </a:lnSpc>
              <a:buFont typeface="Arial"/>
              <a:buChar char="•"/>
            </a:pPr>
            <a:r>
              <a:rPr lang="en-US" sz="2399" b="1">
                <a:solidFill>
                  <a:srgbClr val="000000"/>
                </a:solidFill>
                <a:latin typeface="Inter Bold"/>
                <a:ea typeface="Inter Bold"/>
                <a:cs typeface="Inter Bold"/>
                <a:sym typeface="Inter Bold"/>
              </a:rPr>
              <a:t> Transformer</a:t>
            </a:r>
            <a:r>
              <a:rPr lang="en-US" sz="2399">
                <a:solidFill>
                  <a:srgbClr val="000000"/>
                </a:solidFill>
                <a:latin typeface="Inter"/>
                <a:ea typeface="Inter"/>
                <a:cs typeface="Inter"/>
                <a:sym typeface="Inter"/>
              </a:rPr>
              <a:t>: 3-layer encoder-decoder with 8 self-attention heads</a:t>
            </a:r>
          </a:p>
          <a:p>
            <a:pPr marL="1036317" lvl="2" indent="-345439" algn="l">
              <a:lnSpc>
                <a:spcPts val="2879"/>
              </a:lnSpc>
              <a:buFont typeface="Arial"/>
              <a:buChar char="⚬"/>
            </a:pPr>
            <a:r>
              <a:rPr lang="en-US" sz="2399">
                <a:solidFill>
                  <a:srgbClr val="000000"/>
                </a:solidFill>
                <a:latin typeface="Inter"/>
                <a:ea typeface="Inter"/>
                <a:cs typeface="Inter"/>
                <a:sym typeface="Inter"/>
              </a:rPr>
              <a:t>Encoder processes 49 tokens, gives global context</a:t>
            </a:r>
          </a:p>
          <a:p>
            <a:pPr marL="1036317" lvl="2" indent="-345439" algn="l">
              <a:lnSpc>
                <a:spcPts val="2879"/>
              </a:lnSpc>
              <a:buFont typeface="Arial"/>
              <a:buChar char="⚬"/>
            </a:pPr>
            <a:r>
              <a:rPr lang="en-US" sz="2399">
                <a:solidFill>
                  <a:srgbClr val="000000"/>
                </a:solidFill>
                <a:latin typeface="Inter"/>
                <a:ea typeface="Inter"/>
                <a:cs typeface="Inter"/>
                <a:sym typeface="Inter"/>
              </a:rPr>
              <a:t>Decoder takes in encoded image and 100 learnable query embeddings,</a:t>
            </a:r>
          </a:p>
          <a:p>
            <a:pPr algn="l">
              <a:lnSpc>
                <a:spcPts val="2879"/>
              </a:lnSpc>
            </a:pPr>
            <a:r>
              <a:rPr lang="en-US" sz="2399">
                <a:solidFill>
                  <a:srgbClr val="000000"/>
                </a:solidFill>
                <a:latin typeface="Inter"/>
                <a:ea typeface="Inter"/>
                <a:cs typeface="Inter"/>
                <a:sym typeface="Inter"/>
              </a:rPr>
              <a:t>            shape (100, 256)</a:t>
            </a:r>
          </a:p>
          <a:p>
            <a:pPr marL="518158" lvl="1" indent="-259079" algn="l">
              <a:lnSpc>
                <a:spcPts val="2879"/>
              </a:lnSpc>
              <a:buFont typeface="Arial"/>
              <a:buChar char="•"/>
            </a:pPr>
            <a:r>
              <a:rPr lang="en-US" sz="2399" b="1">
                <a:solidFill>
                  <a:srgbClr val="000000"/>
                </a:solidFill>
                <a:latin typeface="Inter Bold"/>
                <a:ea typeface="Inter Bold"/>
                <a:cs typeface="Inter Bold"/>
                <a:sym typeface="Inter Bold"/>
              </a:rPr>
              <a:t>Queries: </a:t>
            </a:r>
            <a:r>
              <a:rPr lang="en-US" sz="2399">
                <a:solidFill>
                  <a:srgbClr val="000000"/>
                </a:solidFill>
                <a:latin typeface="Inter"/>
                <a:ea typeface="Inter"/>
                <a:cs typeface="Inter"/>
                <a:sym typeface="Inter"/>
              </a:rPr>
              <a:t>100 learnable objects for box prediction (100, 256)</a:t>
            </a:r>
          </a:p>
          <a:p>
            <a:pPr marL="1036317" lvl="2" indent="-345439" algn="l">
              <a:lnSpc>
                <a:spcPts val="2879"/>
              </a:lnSpc>
              <a:buFont typeface="Arial"/>
              <a:buChar char="⚬"/>
            </a:pPr>
            <a:r>
              <a:rPr lang="en-US" sz="2399">
                <a:solidFill>
                  <a:srgbClr val="000000"/>
                </a:solidFill>
                <a:latin typeface="Inter"/>
                <a:ea typeface="Inter"/>
                <a:cs typeface="Inter"/>
                <a:sym typeface="Inter"/>
              </a:rPr>
              <a:t>Each query represents a potential object in the image</a:t>
            </a:r>
          </a:p>
          <a:p>
            <a:pPr marL="518158" lvl="1" indent="-259079" algn="l">
              <a:lnSpc>
                <a:spcPts val="2879"/>
              </a:lnSpc>
              <a:buFont typeface="Arial"/>
              <a:buChar char="•"/>
            </a:pPr>
            <a:r>
              <a:rPr lang="en-US" sz="2399" b="1">
                <a:solidFill>
                  <a:srgbClr val="000000"/>
                </a:solidFill>
                <a:latin typeface="Inter Bold"/>
                <a:ea typeface="Inter Bold"/>
                <a:cs typeface="Inter Bold"/>
                <a:sym typeface="Inter Bold"/>
              </a:rPr>
              <a:t>Detection Heads</a:t>
            </a:r>
            <a:r>
              <a:rPr lang="en-US" sz="2399">
                <a:solidFill>
                  <a:srgbClr val="000000"/>
                </a:solidFill>
                <a:latin typeface="Inter"/>
                <a:ea typeface="Inter"/>
                <a:cs typeface="Inter"/>
                <a:sym typeface="Inter"/>
              </a:rPr>
              <a:t>: Classification and Box Regression (MLPs)</a:t>
            </a:r>
          </a:p>
          <a:p>
            <a:pPr marL="1036317" lvl="2" indent="-345439" algn="l">
              <a:lnSpc>
                <a:spcPts val="2879"/>
              </a:lnSpc>
              <a:spcBef>
                <a:spcPct val="0"/>
              </a:spcBef>
              <a:buFont typeface="Arial"/>
              <a:buChar char="⚬"/>
            </a:pPr>
            <a:r>
              <a:rPr lang="en-US" sz="2399">
                <a:solidFill>
                  <a:srgbClr val="000000"/>
                </a:solidFill>
                <a:latin typeface="Inter"/>
                <a:ea typeface="Inter"/>
                <a:cs typeface="Inter"/>
                <a:sym typeface="Inter"/>
              </a:rPr>
              <a:t>Classification head is a linear layer that maps from 256 → 2 classes (background or surfer)</a:t>
            </a:r>
          </a:p>
          <a:p>
            <a:pPr marL="1036317" lvl="2" indent="-345439" algn="l">
              <a:lnSpc>
                <a:spcPts val="2879"/>
              </a:lnSpc>
              <a:spcBef>
                <a:spcPct val="0"/>
              </a:spcBef>
              <a:buFont typeface="Arial"/>
              <a:buChar char="⚬"/>
            </a:pPr>
            <a:r>
              <a:rPr lang="en-US" sz="2399">
                <a:solidFill>
                  <a:srgbClr val="000000"/>
                </a:solidFill>
                <a:latin typeface="Inter"/>
                <a:ea typeface="Inter"/>
                <a:cs typeface="Inter"/>
                <a:sym typeface="Inter"/>
              </a:rPr>
              <a:t>Box regression head is a 3 layer MLP (256 → 256 → 256 → 4)</a:t>
            </a:r>
          </a:p>
          <a:p>
            <a:pPr marL="1554475" lvl="3" indent="-388619" algn="l">
              <a:lnSpc>
                <a:spcPts val="2879"/>
              </a:lnSpc>
              <a:spcBef>
                <a:spcPct val="0"/>
              </a:spcBef>
              <a:buFont typeface="Arial"/>
              <a:buChar char="￭"/>
            </a:pPr>
            <a:r>
              <a:rPr lang="en-US" sz="2399">
                <a:solidFill>
                  <a:srgbClr val="000000"/>
                </a:solidFill>
                <a:latin typeface="Inter"/>
                <a:ea typeface="Inter"/>
                <a:cs typeface="Inter"/>
                <a:sym typeface="Inter"/>
              </a:rPr>
              <a:t>Output format: (cx, cy, w, h) — all normalized between [0, 1]</a:t>
            </a:r>
          </a:p>
          <a:p>
            <a:pPr marL="518158" lvl="1" indent="-259079" algn="l">
              <a:lnSpc>
                <a:spcPts val="2879"/>
              </a:lnSpc>
              <a:spcBef>
                <a:spcPct val="0"/>
              </a:spcBef>
              <a:buFont typeface="Arial"/>
              <a:buChar char="•"/>
            </a:pPr>
            <a:r>
              <a:rPr lang="en-US" sz="2399" b="1">
                <a:solidFill>
                  <a:srgbClr val="000000"/>
                </a:solidFill>
                <a:latin typeface="Inter Bold"/>
                <a:ea typeface="Inter Bold"/>
                <a:cs typeface="Inter Bold"/>
                <a:sym typeface="Inter Bold"/>
              </a:rPr>
              <a:t>Hungarian Matching: </a:t>
            </a:r>
            <a:r>
              <a:rPr lang="en-US" sz="2399">
                <a:solidFill>
                  <a:srgbClr val="000000"/>
                </a:solidFill>
                <a:latin typeface="Inter"/>
                <a:ea typeface="Inter"/>
                <a:cs typeface="Inter"/>
                <a:sym typeface="Inter"/>
              </a:rPr>
              <a:t>Matches the 100 predictions to ground truth boxes (one to one)</a:t>
            </a:r>
          </a:p>
          <a:p>
            <a:pPr marL="518158" lvl="1" indent="-259079" algn="l">
              <a:lnSpc>
                <a:spcPts val="2879"/>
              </a:lnSpc>
              <a:spcBef>
                <a:spcPct val="0"/>
              </a:spcBef>
              <a:buFont typeface="Arial"/>
              <a:buChar char="•"/>
            </a:pPr>
            <a:r>
              <a:rPr lang="en-US" sz="2399" b="1">
                <a:solidFill>
                  <a:srgbClr val="000000"/>
                </a:solidFill>
                <a:latin typeface="Inter Bold"/>
                <a:ea typeface="Inter Bold"/>
                <a:cs typeface="Inter Bold"/>
                <a:sym typeface="Inter Bold"/>
              </a:rPr>
              <a:t>Loss: </a:t>
            </a:r>
            <a:r>
              <a:rPr lang="en-US" sz="2399">
                <a:solidFill>
                  <a:srgbClr val="000000"/>
                </a:solidFill>
                <a:latin typeface="Inter"/>
                <a:ea typeface="Inter"/>
                <a:cs typeface="Inter"/>
                <a:sym typeface="Inter"/>
              </a:rPr>
              <a:t>Classification loss, Box Regression loss, GIoU loss added together with different weights</a:t>
            </a:r>
          </a:p>
          <a:p>
            <a:pPr marL="1036317" lvl="2" indent="-345439" algn="l">
              <a:lnSpc>
                <a:spcPts val="2879"/>
              </a:lnSpc>
              <a:spcBef>
                <a:spcPct val="0"/>
              </a:spcBef>
              <a:buFont typeface="Arial"/>
              <a:buChar char="⚬"/>
            </a:pPr>
            <a:r>
              <a:rPr lang="en-US" sz="2399">
                <a:solidFill>
                  <a:srgbClr val="000000"/>
                </a:solidFill>
                <a:latin typeface="Inter"/>
                <a:ea typeface="Inter"/>
                <a:cs typeface="Inter"/>
                <a:sym typeface="Inter"/>
              </a:rPr>
              <a:t>Classification - performs cross entropy loss on the matched pairs</a:t>
            </a:r>
          </a:p>
          <a:p>
            <a:pPr marL="1036317" lvl="2" indent="-345439" algn="l">
              <a:lnSpc>
                <a:spcPts val="2879"/>
              </a:lnSpc>
              <a:spcBef>
                <a:spcPct val="0"/>
              </a:spcBef>
              <a:buFont typeface="Arial"/>
              <a:buChar char="⚬"/>
            </a:pPr>
            <a:r>
              <a:rPr lang="en-US" sz="2399">
                <a:solidFill>
                  <a:srgbClr val="000000"/>
                </a:solidFill>
                <a:latin typeface="Inter"/>
                <a:ea typeface="Inter"/>
                <a:cs typeface="Inter"/>
                <a:sym typeface="Inter"/>
              </a:rPr>
              <a:t>Box regression - L1 loss between matched pairs</a:t>
            </a:r>
          </a:p>
          <a:p>
            <a:pPr marL="1036317" lvl="2" indent="-345439" algn="l">
              <a:lnSpc>
                <a:spcPts val="2879"/>
              </a:lnSpc>
              <a:spcBef>
                <a:spcPct val="0"/>
              </a:spcBef>
              <a:buFont typeface="Arial"/>
              <a:buChar char="⚬"/>
            </a:pPr>
            <a:r>
              <a:rPr lang="en-US" sz="2399">
                <a:solidFill>
                  <a:srgbClr val="000000"/>
                </a:solidFill>
                <a:latin typeface="Inter"/>
                <a:ea typeface="Inter"/>
                <a:cs typeface="Inter"/>
                <a:sym typeface="Inter"/>
              </a:rPr>
              <a:t>Generalized Intersection over union - Encourages boxes to better overlap</a:t>
            </a:r>
          </a:p>
        </p:txBody>
      </p:sp>
      <p:sp>
        <p:nvSpPr>
          <p:cNvPr id="4" name="Freeform 4"/>
          <p:cNvSpPr/>
          <p:nvPr/>
        </p:nvSpPr>
        <p:spPr>
          <a:xfrm>
            <a:off x="12503707" y="1489612"/>
            <a:ext cx="5784293" cy="3853785"/>
          </a:xfrm>
          <a:custGeom>
            <a:avLst/>
            <a:gdLst/>
            <a:ahLst/>
            <a:cxnLst/>
            <a:rect l="l" t="t" r="r" b="b"/>
            <a:pathLst>
              <a:path w="5784293" h="3853785">
                <a:moveTo>
                  <a:pt x="0" y="0"/>
                </a:moveTo>
                <a:lnTo>
                  <a:pt x="5784293" y="0"/>
                </a:lnTo>
                <a:lnTo>
                  <a:pt x="5784293" y="3853785"/>
                </a:lnTo>
                <a:lnTo>
                  <a:pt x="0" y="3853785"/>
                </a:lnTo>
                <a:lnTo>
                  <a:pt x="0" y="0"/>
                </a:lnTo>
                <a:close/>
              </a:path>
            </a:pathLst>
          </a:custGeom>
          <a:blipFill>
            <a:blip r:embed="rId4"/>
            <a:stretch>
              <a:fillRect/>
            </a:stretch>
          </a:blipFill>
        </p:spPr>
      </p:sp>
      <p:sp>
        <p:nvSpPr>
          <p:cNvPr id="5" name="TextBox 5"/>
          <p:cNvSpPr txBox="1"/>
          <p:nvPr/>
        </p:nvSpPr>
        <p:spPr>
          <a:xfrm>
            <a:off x="513977" y="453488"/>
            <a:ext cx="16970832"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CUSTOM MODEL V1 (GENERAL DETECTION)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TextBox 3"/>
          <p:cNvSpPr txBox="1"/>
          <p:nvPr/>
        </p:nvSpPr>
        <p:spPr>
          <a:xfrm>
            <a:off x="513977" y="453488"/>
            <a:ext cx="16970832"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CUSTOM MODEL V1 RESULTS</a:t>
            </a:r>
          </a:p>
        </p:txBody>
      </p:sp>
      <p:sp>
        <p:nvSpPr>
          <p:cNvPr id="4" name="TextBox 4"/>
          <p:cNvSpPr txBox="1"/>
          <p:nvPr/>
        </p:nvSpPr>
        <p:spPr>
          <a:xfrm>
            <a:off x="256988" y="2067560"/>
            <a:ext cx="18031012" cy="659066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000000"/>
                </a:solidFill>
                <a:latin typeface="Inter"/>
                <a:ea typeface="Inter"/>
                <a:cs typeface="Inter"/>
                <a:sym typeface="Inter"/>
              </a:rPr>
              <a:t>The model was able to generally find the area of the surfers, but not localize the box well </a:t>
            </a:r>
          </a:p>
          <a:p>
            <a:pPr marL="734059" lvl="1" indent="-367030" algn="l">
              <a:lnSpc>
                <a:spcPts val="4759"/>
              </a:lnSpc>
              <a:spcBef>
                <a:spcPct val="0"/>
              </a:spcBef>
              <a:buFont typeface="Arial"/>
              <a:buChar char="•"/>
            </a:pPr>
            <a:r>
              <a:rPr lang="en-US" sz="3399">
                <a:solidFill>
                  <a:srgbClr val="000000"/>
                </a:solidFill>
                <a:latin typeface="Inter"/>
                <a:ea typeface="Inter"/>
                <a:cs typeface="Inter"/>
                <a:sym typeface="Inter"/>
              </a:rPr>
              <a:t>Was able to reliably predict no surfer when there were no surfers</a:t>
            </a:r>
          </a:p>
          <a:p>
            <a:pPr marL="734059" lvl="1" indent="-367030" algn="l">
              <a:lnSpc>
                <a:spcPts val="4759"/>
              </a:lnSpc>
              <a:spcBef>
                <a:spcPct val="0"/>
              </a:spcBef>
              <a:buFont typeface="Arial"/>
              <a:buChar char="•"/>
            </a:pPr>
            <a:r>
              <a:rPr lang="en-US" sz="3399" u="none" strike="noStrike">
                <a:solidFill>
                  <a:srgbClr val="000000"/>
                </a:solidFill>
                <a:latin typeface="Inter"/>
                <a:ea typeface="Inter"/>
                <a:cs typeface="Inter"/>
                <a:sym typeface="Inter"/>
              </a:rPr>
              <a:t>Confidence levels were in the 0.9's  for surfers, but was overpredicting </a:t>
            </a:r>
          </a:p>
          <a:p>
            <a:pPr marL="734059" lvl="1" indent="-367030" algn="l">
              <a:lnSpc>
                <a:spcPts val="4759"/>
              </a:lnSpc>
              <a:spcBef>
                <a:spcPct val="0"/>
              </a:spcBef>
              <a:buFont typeface="Arial"/>
              <a:buChar char="•"/>
            </a:pPr>
            <a:r>
              <a:rPr lang="en-US" sz="3399" u="none" strike="noStrike">
                <a:solidFill>
                  <a:srgbClr val="000000"/>
                </a:solidFill>
                <a:latin typeface="Inter"/>
                <a:ea typeface="Inter"/>
                <a:cs typeface="Inter"/>
                <a:sym typeface="Inter"/>
              </a:rPr>
              <a:t>Training loss decreased from 3.28 to 3.04</a:t>
            </a:r>
          </a:p>
          <a:p>
            <a:pPr marL="734059" lvl="1" indent="-367030" algn="l">
              <a:lnSpc>
                <a:spcPts val="4759"/>
              </a:lnSpc>
              <a:spcBef>
                <a:spcPct val="0"/>
              </a:spcBef>
              <a:buFont typeface="Arial"/>
              <a:buChar char="•"/>
            </a:pPr>
            <a:r>
              <a:rPr lang="en-US" sz="3399" u="none" strike="noStrike">
                <a:solidFill>
                  <a:srgbClr val="000000"/>
                </a:solidFill>
                <a:latin typeface="Inter"/>
                <a:ea typeface="Inter"/>
                <a:cs typeface="Inter"/>
                <a:sym typeface="Inter"/>
              </a:rPr>
              <a:t>Validation loss: ~0.73-0.83</a:t>
            </a:r>
          </a:p>
          <a:p>
            <a:pPr marL="734059" lvl="1" indent="-367030" algn="l">
              <a:lnSpc>
                <a:spcPts val="4759"/>
              </a:lnSpc>
              <a:spcBef>
                <a:spcPct val="0"/>
              </a:spcBef>
              <a:buFont typeface="Arial"/>
              <a:buChar char="•"/>
            </a:pPr>
            <a:r>
              <a:rPr lang="en-US" sz="3399" u="none" strike="noStrike">
                <a:solidFill>
                  <a:srgbClr val="000000"/>
                </a:solidFill>
                <a:latin typeface="Inter"/>
                <a:ea typeface="Inter"/>
                <a:cs typeface="Inter"/>
                <a:sym typeface="Inter"/>
              </a:rPr>
              <a:t>Precision/Recall/F1: 0.0 consistently</a:t>
            </a:r>
          </a:p>
          <a:p>
            <a:pPr marL="734059" lvl="1" indent="-367030" algn="l">
              <a:lnSpc>
                <a:spcPts val="4759"/>
              </a:lnSpc>
              <a:spcBef>
                <a:spcPct val="0"/>
              </a:spcBef>
              <a:buFont typeface="Arial"/>
              <a:buChar char="•"/>
            </a:pPr>
            <a:r>
              <a:rPr lang="en-US" sz="3399" u="none" strike="noStrike">
                <a:solidFill>
                  <a:srgbClr val="000000"/>
                </a:solidFill>
                <a:latin typeface="Inter"/>
                <a:ea typeface="Inter"/>
                <a:cs typeface="Inter"/>
                <a:sym typeface="Inter"/>
              </a:rPr>
              <a:t>Mean IoU: 0.0 consistently</a:t>
            </a:r>
          </a:p>
          <a:p>
            <a:pPr marL="734059" lvl="1" indent="-367030" algn="l">
              <a:lnSpc>
                <a:spcPts val="4759"/>
              </a:lnSpc>
              <a:spcBef>
                <a:spcPct val="0"/>
              </a:spcBef>
              <a:buFont typeface="Arial"/>
              <a:buChar char="•"/>
            </a:pPr>
            <a:r>
              <a:rPr lang="en-US" sz="3399" u="none" strike="noStrike">
                <a:solidFill>
                  <a:srgbClr val="000000"/>
                </a:solidFill>
                <a:latin typeface="Inter"/>
                <a:ea typeface="Inter"/>
                <a:cs typeface="Inter"/>
                <a:sym typeface="Inter"/>
              </a:rPr>
              <a:t>Box loss component: 0.0 consistently</a:t>
            </a:r>
          </a:p>
          <a:p>
            <a:pPr marL="734059" lvl="1" indent="-367030" algn="l">
              <a:lnSpc>
                <a:spcPts val="4759"/>
              </a:lnSpc>
              <a:spcBef>
                <a:spcPct val="0"/>
              </a:spcBef>
              <a:buFont typeface="Arial"/>
              <a:buChar char="•"/>
            </a:pPr>
            <a:r>
              <a:rPr lang="en-US" sz="3399" u="none" strike="noStrike">
                <a:solidFill>
                  <a:srgbClr val="000000"/>
                </a:solidFill>
                <a:latin typeface="Inter"/>
                <a:ea typeface="Inter"/>
                <a:cs typeface="Inter"/>
                <a:sym typeface="Inter"/>
              </a:rPr>
              <a:t>Average detections: 3.5-6.27(ground truth: 2.43)</a:t>
            </a:r>
          </a:p>
          <a:p>
            <a:pPr algn="l">
              <a:lnSpc>
                <a:spcPts val="4759"/>
              </a:lnSpc>
              <a:spcBef>
                <a:spcPct val="0"/>
              </a:spcBef>
            </a:pPr>
            <a:endParaRPr lang="en-US" sz="3399" u="none" strike="noStrike">
              <a:solidFill>
                <a:srgbClr val="000000"/>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TextBox 3"/>
          <p:cNvSpPr txBox="1"/>
          <p:nvPr/>
        </p:nvSpPr>
        <p:spPr>
          <a:xfrm>
            <a:off x="513977" y="453488"/>
            <a:ext cx="16970832"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CUSTOM MODEL V1 TUNING</a:t>
            </a:r>
          </a:p>
        </p:txBody>
      </p:sp>
      <p:sp>
        <p:nvSpPr>
          <p:cNvPr id="4" name="TextBox 4"/>
          <p:cNvSpPr txBox="1"/>
          <p:nvPr/>
        </p:nvSpPr>
        <p:spPr>
          <a:xfrm>
            <a:off x="208991" y="1830074"/>
            <a:ext cx="18079009" cy="358076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214492"/>
                </a:solidFill>
                <a:latin typeface="Canva Sans"/>
                <a:ea typeface="Canva Sans"/>
                <a:cs typeface="Canva Sans"/>
                <a:sym typeface="Canva Sans"/>
              </a:rPr>
              <a:t>To encourage the boxes to localize better, we can turn up the weights for box regression loss and GIoU loss  </a:t>
            </a:r>
          </a:p>
          <a:p>
            <a:pPr marL="734059" lvl="1" indent="-367030" algn="l">
              <a:lnSpc>
                <a:spcPts val="4759"/>
              </a:lnSpc>
              <a:buFont typeface="Arial"/>
              <a:buChar char="•"/>
            </a:pPr>
            <a:r>
              <a:rPr lang="en-US" sz="3399">
                <a:solidFill>
                  <a:srgbClr val="214492"/>
                </a:solidFill>
                <a:latin typeface="Canva Sans"/>
                <a:ea typeface="Canva Sans"/>
                <a:cs typeface="Canva Sans"/>
                <a:sym typeface="Canva Sans"/>
              </a:rPr>
              <a:t>After playing with all these loss weights for a couple of days, there was no improvement</a:t>
            </a:r>
          </a:p>
          <a:p>
            <a:pPr marL="1468119" lvl="2" indent="-489373" algn="l">
              <a:lnSpc>
                <a:spcPts val="4759"/>
              </a:lnSpc>
              <a:buFont typeface="Arial"/>
              <a:buChar char="⚬"/>
            </a:pPr>
            <a:r>
              <a:rPr lang="en-US" sz="3399">
                <a:solidFill>
                  <a:srgbClr val="214492"/>
                </a:solidFill>
                <a:latin typeface="Canva Sans"/>
                <a:ea typeface="Canva Sans"/>
                <a:cs typeface="Canva Sans"/>
                <a:sym typeface="Canva Sans"/>
              </a:rPr>
              <a:t>One epoch takes an hour, very hard to iterate on</a:t>
            </a:r>
          </a:p>
          <a:p>
            <a:pPr marL="734059" lvl="1" indent="-367030" algn="l">
              <a:lnSpc>
                <a:spcPts val="4759"/>
              </a:lnSpc>
              <a:buFont typeface="Arial"/>
              <a:buChar char="•"/>
            </a:pPr>
            <a:r>
              <a:rPr lang="en-US" sz="3399">
                <a:solidFill>
                  <a:srgbClr val="214492"/>
                </a:solidFill>
                <a:latin typeface="Canva Sans"/>
                <a:ea typeface="Canva Sans"/>
                <a:cs typeface="Canva Sans"/>
                <a:sym typeface="Canva Sans"/>
              </a:rPr>
              <a:t>Too much information was lost during the convolutional layers</a:t>
            </a:r>
          </a:p>
        </p:txBody>
      </p:sp>
      <p:sp>
        <p:nvSpPr>
          <p:cNvPr id="5" name="TextBox 5"/>
          <p:cNvSpPr txBox="1"/>
          <p:nvPr/>
        </p:nvSpPr>
        <p:spPr>
          <a:xfrm>
            <a:off x="701576" y="5734689"/>
            <a:ext cx="16884848" cy="1619917"/>
          </a:xfrm>
          <a:prstGeom prst="rect">
            <a:avLst/>
          </a:prstGeom>
        </p:spPr>
        <p:txBody>
          <a:bodyPr lIns="0" tIns="0" rIns="0" bIns="0" rtlCol="0" anchor="t">
            <a:spAutoFit/>
          </a:bodyPr>
          <a:lstStyle/>
          <a:p>
            <a:pPr algn="ctr">
              <a:lnSpc>
                <a:spcPts val="5007"/>
              </a:lnSpc>
              <a:spcBef>
                <a:spcPct val="0"/>
              </a:spcBef>
            </a:pPr>
            <a:r>
              <a:rPr lang="en-US" sz="4552" b="1">
                <a:solidFill>
                  <a:srgbClr val="214492"/>
                </a:solidFill>
                <a:latin typeface="Agrandir Narrow Bold"/>
                <a:ea typeface="Agrandir Narrow Bold"/>
                <a:cs typeface="Agrandir Narrow Bold"/>
                <a:sym typeface="Agrandir Narrow Bold"/>
              </a:rPr>
              <a:t>LOSS = 2.0 * LOSS_CLASS + 2.0 * LOSS_BOXES + 1.0 * LOSS_GIOU</a:t>
            </a:r>
          </a:p>
          <a:p>
            <a:pPr algn="ctr">
              <a:lnSpc>
                <a:spcPts val="6657"/>
              </a:lnSpc>
              <a:spcBef>
                <a:spcPct val="0"/>
              </a:spcBef>
            </a:pPr>
            <a:endParaRPr lang="en-US" sz="4552" b="1">
              <a:solidFill>
                <a:srgbClr val="214492"/>
              </a:solidFill>
              <a:latin typeface="Agrandir Narrow Bold"/>
              <a:ea typeface="Agrandir Narrow Bold"/>
              <a:cs typeface="Agrandir Narrow Bold"/>
              <a:sym typeface="Agrandir Narrow Bold"/>
            </a:endParaRPr>
          </a:p>
        </p:txBody>
      </p:sp>
      <p:sp>
        <p:nvSpPr>
          <p:cNvPr id="6" name="TextBox 6"/>
          <p:cNvSpPr txBox="1"/>
          <p:nvPr/>
        </p:nvSpPr>
        <p:spPr>
          <a:xfrm>
            <a:off x="339551" y="8507131"/>
            <a:ext cx="17608897" cy="1619917"/>
          </a:xfrm>
          <a:prstGeom prst="rect">
            <a:avLst/>
          </a:prstGeom>
        </p:spPr>
        <p:txBody>
          <a:bodyPr lIns="0" tIns="0" rIns="0" bIns="0" rtlCol="0" anchor="t">
            <a:spAutoFit/>
          </a:bodyPr>
          <a:lstStyle/>
          <a:p>
            <a:pPr algn="ctr">
              <a:lnSpc>
                <a:spcPts val="5007"/>
              </a:lnSpc>
              <a:spcBef>
                <a:spcPct val="0"/>
              </a:spcBef>
            </a:pPr>
            <a:r>
              <a:rPr lang="en-US" sz="4552" b="1">
                <a:solidFill>
                  <a:srgbClr val="214492"/>
                </a:solidFill>
                <a:latin typeface="Agrandir Narrow Bold"/>
                <a:ea typeface="Agrandir Narrow Bold"/>
                <a:cs typeface="Agrandir Narrow Bold"/>
                <a:sym typeface="Agrandir Narrow Bold"/>
              </a:rPr>
              <a:t>LOSS = 2.0 * LOSS_CLASS + </a:t>
            </a:r>
            <a:r>
              <a:rPr lang="en-US" sz="4552" b="1">
                <a:solidFill>
                  <a:srgbClr val="FF3131"/>
                </a:solidFill>
                <a:latin typeface="Agrandir Narrow Bold"/>
                <a:ea typeface="Agrandir Narrow Bold"/>
                <a:cs typeface="Agrandir Narrow Bold"/>
                <a:sym typeface="Agrandir Narrow Bold"/>
              </a:rPr>
              <a:t>20.0</a:t>
            </a:r>
            <a:r>
              <a:rPr lang="en-US" sz="4552" b="1">
                <a:solidFill>
                  <a:srgbClr val="214492"/>
                </a:solidFill>
                <a:latin typeface="Agrandir Narrow Bold"/>
                <a:ea typeface="Agrandir Narrow Bold"/>
                <a:cs typeface="Agrandir Narrow Bold"/>
                <a:sym typeface="Agrandir Narrow Bold"/>
              </a:rPr>
              <a:t> * LOSS_BOXES + </a:t>
            </a:r>
            <a:r>
              <a:rPr lang="en-US" sz="4552" b="1">
                <a:solidFill>
                  <a:srgbClr val="FF3131"/>
                </a:solidFill>
                <a:latin typeface="Agrandir Narrow Bold"/>
                <a:ea typeface="Agrandir Narrow Bold"/>
                <a:cs typeface="Agrandir Narrow Bold"/>
                <a:sym typeface="Agrandir Narrow Bold"/>
              </a:rPr>
              <a:t>10.0</a:t>
            </a:r>
            <a:r>
              <a:rPr lang="en-US" sz="4552" b="1">
                <a:solidFill>
                  <a:srgbClr val="214492"/>
                </a:solidFill>
                <a:latin typeface="Agrandir Narrow Bold"/>
                <a:ea typeface="Agrandir Narrow Bold"/>
                <a:cs typeface="Agrandir Narrow Bold"/>
                <a:sym typeface="Agrandir Narrow Bold"/>
              </a:rPr>
              <a:t> * LOSS_GIOU</a:t>
            </a:r>
          </a:p>
          <a:p>
            <a:pPr algn="ctr">
              <a:lnSpc>
                <a:spcPts val="6657"/>
              </a:lnSpc>
              <a:spcBef>
                <a:spcPct val="0"/>
              </a:spcBef>
            </a:pPr>
            <a:endParaRPr lang="en-US" sz="4552" b="1">
              <a:solidFill>
                <a:srgbClr val="214492"/>
              </a:solidFill>
              <a:latin typeface="Agrandir Narrow Bold"/>
              <a:ea typeface="Agrandir Narrow Bold"/>
              <a:cs typeface="Agrandir Narrow Bold"/>
              <a:sym typeface="Agrandir Narrow Bold"/>
            </a:endParaRPr>
          </a:p>
        </p:txBody>
      </p:sp>
      <p:sp>
        <p:nvSpPr>
          <p:cNvPr id="7" name="AutoShape 7"/>
          <p:cNvSpPr/>
          <p:nvPr/>
        </p:nvSpPr>
        <p:spPr>
          <a:xfrm>
            <a:off x="8980343" y="6587510"/>
            <a:ext cx="0" cy="1631941"/>
          </a:xfrm>
          <a:prstGeom prst="line">
            <a:avLst/>
          </a:prstGeom>
          <a:ln w="104775" cap="flat">
            <a:solidFill>
              <a:srgbClr val="000000"/>
            </a:solidFill>
            <a:prstDash val="solid"/>
            <a:headEnd type="none" w="sm" len="sm"/>
            <a:tailEnd type="arrow" w="med" len="sm"/>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TextBox 3"/>
          <p:cNvSpPr txBox="1"/>
          <p:nvPr/>
        </p:nvSpPr>
        <p:spPr>
          <a:xfrm>
            <a:off x="513977" y="453488"/>
            <a:ext cx="16970832"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CUSTOM MODEL V1 RESULTS</a:t>
            </a:r>
          </a:p>
        </p:txBody>
      </p:sp>
      <p:sp>
        <p:nvSpPr>
          <p:cNvPr id="4" name="Freeform 4"/>
          <p:cNvSpPr/>
          <p:nvPr/>
        </p:nvSpPr>
        <p:spPr>
          <a:xfrm>
            <a:off x="401595" y="1919797"/>
            <a:ext cx="17484809" cy="7964916"/>
          </a:xfrm>
          <a:custGeom>
            <a:avLst/>
            <a:gdLst/>
            <a:ahLst/>
            <a:cxnLst/>
            <a:rect l="l" t="t" r="r" b="b"/>
            <a:pathLst>
              <a:path w="17484809" h="7964916">
                <a:moveTo>
                  <a:pt x="0" y="0"/>
                </a:moveTo>
                <a:lnTo>
                  <a:pt x="17484810" y="0"/>
                </a:lnTo>
                <a:lnTo>
                  <a:pt x="17484810" y="7964916"/>
                </a:lnTo>
                <a:lnTo>
                  <a:pt x="0" y="7964916"/>
                </a:lnTo>
                <a:lnTo>
                  <a:pt x="0" y="0"/>
                </a:lnTo>
                <a:close/>
              </a:path>
            </a:pathLst>
          </a:custGeom>
          <a:blipFill>
            <a:blip r:embed="rId4"/>
            <a:stretch>
              <a:fillRect l="-13759" t="-20485" r="-6780" b="-1236"/>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Freeform 3"/>
          <p:cNvSpPr/>
          <p:nvPr/>
        </p:nvSpPr>
        <p:spPr>
          <a:xfrm>
            <a:off x="2175618" y="3888549"/>
            <a:ext cx="13936764" cy="6104206"/>
          </a:xfrm>
          <a:custGeom>
            <a:avLst/>
            <a:gdLst/>
            <a:ahLst/>
            <a:cxnLst/>
            <a:rect l="l" t="t" r="r" b="b"/>
            <a:pathLst>
              <a:path w="13936764" h="6104206">
                <a:moveTo>
                  <a:pt x="0" y="0"/>
                </a:moveTo>
                <a:lnTo>
                  <a:pt x="13936764" y="0"/>
                </a:lnTo>
                <a:lnTo>
                  <a:pt x="13936764" y="6104206"/>
                </a:lnTo>
                <a:lnTo>
                  <a:pt x="0" y="6104206"/>
                </a:lnTo>
                <a:lnTo>
                  <a:pt x="0" y="0"/>
                </a:lnTo>
                <a:close/>
              </a:path>
            </a:pathLst>
          </a:custGeom>
          <a:blipFill>
            <a:blip r:embed="rId4"/>
            <a:stretch>
              <a:fillRect l="-11557" t="-22473" r="-15666" b="-3518"/>
            </a:stretch>
          </a:blipFill>
        </p:spPr>
      </p:sp>
      <p:sp>
        <p:nvSpPr>
          <p:cNvPr id="4" name="TextBox 4"/>
          <p:cNvSpPr txBox="1"/>
          <p:nvPr/>
        </p:nvSpPr>
        <p:spPr>
          <a:xfrm>
            <a:off x="513977" y="453488"/>
            <a:ext cx="13031059"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CUSTOM MODEL V2 CHANGES</a:t>
            </a:r>
          </a:p>
        </p:txBody>
      </p:sp>
      <p:sp>
        <p:nvSpPr>
          <p:cNvPr id="5" name="TextBox 5"/>
          <p:cNvSpPr txBox="1"/>
          <p:nvPr/>
        </p:nvSpPr>
        <p:spPr>
          <a:xfrm>
            <a:off x="513977" y="1422937"/>
            <a:ext cx="15692126" cy="238061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214492"/>
                </a:solidFill>
                <a:latin typeface="Canva Sans"/>
                <a:ea typeface="Canva Sans"/>
                <a:cs typeface="Canva Sans"/>
                <a:sym typeface="Canva Sans"/>
              </a:rPr>
              <a:t>Used Resnet50 backbone instead of Convolutional layers to retain more quality information</a:t>
            </a:r>
          </a:p>
          <a:p>
            <a:pPr marL="734059" lvl="1" indent="-367030" algn="l">
              <a:lnSpc>
                <a:spcPts val="4759"/>
              </a:lnSpc>
              <a:buFont typeface="Arial"/>
              <a:buChar char="•"/>
            </a:pPr>
            <a:r>
              <a:rPr lang="en-US" sz="3399">
                <a:solidFill>
                  <a:srgbClr val="214492"/>
                </a:solidFill>
                <a:latin typeface="Canva Sans"/>
                <a:ea typeface="Canva Sans"/>
                <a:cs typeface="Canva Sans"/>
                <a:sym typeface="Canva Sans"/>
              </a:rPr>
              <a:t>Loss weights: 2.0 * class_loss + 10.0 * box_loss + 2.0 * giou_loss</a:t>
            </a:r>
          </a:p>
          <a:p>
            <a:pPr marL="734059" lvl="1" indent="-367030" algn="l">
              <a:lnSpc>
                <a:spcPts val="4759"/>
              </a:lnSpc>
              <a:buFont typeface="Arial"/>
              <a:buChar char="•"/>
            </a:pPr>
            <a:r>
              <a:rPr lang="en-US" sz="3399">
                <a:solidFill>
                  <a:srgbClr val="214492"/>
                </a:solidFill>
                <a:latin typeface="Canva Sans"/>
                <a:ea typeface="Canva Sans"/>
                <a:cs typeface="Canva Sans"/>
                <a:sym typeface="Canva Sans"/>
              </a:rPr>
              <a:t>Trained for 10 epcohs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Freeform 3"/>
          <p:cNvSpPr/>
          <p:nvPr/>
        </p:nvSpPr>
        <p:spPr>
          <a:xfrm>
            <a:off x="1314629" y="3151588"/>
            <a:ext cx="15658742" cy="7056405"/>
          </a:xfrm>
          <a:custGeom>
            <a:avLst/>
            <a:gdLst/>
            <a:ahLst/>
            <a:cxnLst/>
            <a:rect l="l" t="t" r="r" b="b"/>
            <a:pathLst>
              <a:path w="15658742" h="7056405">
                <a:moveTo>
                  <a:pt x="0" y="0"/>
                </a:moveTo>
                <a:lnTo>
                  <a:pt x="15658742" y="0"/>
                </a:lnTo>
                <a:lnTo>
                  <a:pt x="15658742" y="7056405"/>
                </a:lnTo>
                <a:lnTo>
                  <a:pt x="0" y="7056405"/>
                </a:lnTo>
                <a:lnTo>
                  <a:pt x="0" y="0"/>
                </a:lnTo>
                <a:close/>
              </a:path>
            </a:pathLst>
          </a:custGeom>
          <a:blipFill>
            <a:blip r:embed="rId4"/>
            <a:stretch>
              <a:fillRect b="-1800"/>
            </a:stretch>
          </a:blipFill>
        </p:spPr>
      </p:sp>
      <p:sp>
        <p:nvSpPr>
          <p:cNvPr id="4" name="TextBox 4"/>
          <p:cNvSpPr txBox="1"/>
          <p:nvPr/>
        </p:nvSpPr>
        <p:spPr>
          <a:xfrm>
            <a:off x="513977" y="453488"/>
            <a:ext cx="13031059"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CUSTOM MODEL V2 CHANGES</a:t>
            </a:r>
          </a:p>
        </p:txBody>
      </p:sp>
      <p:sp>
        <p:nvSpPr>
          <p:cNvPr id="5" name="TextBox 5"/>
          <p:cNvSpPr txBox="1"/>
          <p:nvPr/>
        </p:nvSpPr>
        <p:spPr>
          <a:xfrm>
            <a:off x="513977" y="1694898"/>
            <a:ext cx="15692126" cy="118046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214492"/>
                </a:solidFill>
                <a:latin typeface="Canva Sans"/>
                <a:ea typeface="Canva Sans"/>
                <a:cs typeface="Canva Sans"/>
                <a:sym typeface="Canva Sans"/>
              </a:rPr>
              <a:t>Adjusted loss weights: 2.0 * class_loss + 10.0 * box_loss + </a:t>
            </a:r>
            <a:r>
              <a:rPr lang="en-US" sz="3399" b="1">
                <a:solidFill>
                  <a:srgbClr val="214492"/>
                </a:solidFill>
                <a:latin typeface="Canva Sans Bold"/>
                <a:ea typeface="Canva Sans Bold"/>
                <a:cs typeface="Canva Sans Bold"/>
                <a:sym typeface="Canva Sans Bold"/>
              </a:rPr>
              <a:t>10.0</a:t>
            </a:r>
            <a:r>
              <a:rPr lang="en-US" sz="3399">
                <a:solidFill>
                  <a:srgbClr val="214492"/>
                </a:solidFill>
                <a:latin typeface="Canva Sans"/>
                <a:ea typeface="Canva Sans"/>
                <a:cs typeface="Canva Sans"/>
                <a:sym typeface="Canva Sans"/>
              </a:rPr>
              <a:t> * giou_loss</a:t>
            </a:r>
          </a:p>
          <a:p>
            <a:pPr marL="734059" lvl="1" indent="-367030" algn="l">
              <a:lnSpc>
                <a:spcPts val="4759"/>
              </a:lnSpc>
              <a:buFont typeface="Arial"/>
              <a:buChar char="•"/>
            </a:pPr>
            <a:r>
              <a:rPr lang="en-US" sz="3399">
                <a:solidFill>
                  <a:srgbClr val="214492"/>
                </a:solidFill>
                <a:latin typeface="Canva Sans"/>
                <a:ea typeface="Canva Sans"/>
                <a:cs typeface="Canva Sans"/>
                <a:sym typeface="Canva Sans"/>
              </a:rPr>
              <a:t>Trained for 10 more epochs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16666" b="-16666"/>
            </a:stretch>
          </a:blipFill>
        </p:spPr>
      </p:sp>
      <p:pic>
        <p:nvPicPr>
          <p:cNvPr id="3" name="Picture 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l="657" r="657"/>
          <a:stretch>
            <a:fillRect/>
          </a:stretch>
        </p:blipFill>
        <p:spPr>
          <a:xfrm>
            <a:off x="1925053" y="1741864"/>
            <a:ext cx="14437895" cy="8229600"/>
          </a:xfrm>
          <a:prstGeom prst="rect">
            <a:avLst/>
          </a:prstGeom>
        </p:spPr>
      </p:pic>
      <p:sp>
        <p:nvSpPr>
          <p:cNvPr id="4" name="TextBox 4"/>
          <p:cNvSpPr txBox="1"/>
          <p:nvPr/>
        </p:nvSpPr>
        <p:spPr>
          <a:xfrm>
            <a:off x="513977" y="453488"/>
            <a:ext cx="15134046"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CUSTOM MODEL V2 WITH SORT</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grpSp>
        <p:nvGrpSpPr>
          <p:cNvPr id="3" name="Group 3"/>
          <p:cNvGrpSpPr/>
          <p:nvPr/>
        </p:nvGrpSpPr>
        <p:grpSpPr>
          <a:xfrm>
            <a:off x="1455352" y="1028700"/>
            <a:ext cx="7498148" cy="8229600"/>
            <a:chOff x="0" y="0"/>
            <a:chExt cx="874817" cy="960156"/>
          </a:xfrm>
        </p:grpSpPr>
        <p:sp>
          <p:nvSpPr>
            <p:cNvPr id="4" name="Freeform 4"/>
            <p:cNvSpPr/>
            <p:nvPr/>
          </p:nvSpPr>
          <p:spPr>
            <a:xfrm>
              <a:off x="0" y="0"/>
              <a:ext cx="874817" cy="960156"/>
            </a:xfrm>
            <a:custGeom>
              <a:avLst/>
              <a:gdLst/>
              <a:ahLst/>
              <a:cxnLst/>
              <a:rect l="l" t="t" r="r" b="b"/>
              <a:pathLst>
                <a:path w="874817" h="960156">
                  <a:moveTo>
                    <a:pt x="23748" y="0"/>
                  </a:moveTo>
                  <a:lnTo>
                    <a:pt x="851069" y="0"/>
                  </a:lnTo>
                  <a:cubicBezTo>
                    <a:pt x="864185" y="0"/>
                    <a:pt x="874817" y="10632"/>
                    <a:pt x="874817" y="23748"/>
                  </a:cubicBezTo>
                  <a:lnTo>
                    <a:pt x="874817" y="936408"/>
                  </a:lnTo>
                  <a:cubicBezTo>
                    <a:pt x="874817" y="949524"/>
                    <a:pt x="864185" y="960156"/>
                    <a:pt x="851069" y="960156"/>
                  </a:cubicBezTo>
                  <a:lnTo>
                    <a:pt x="23748" y="960156"/>
                  </a:lnTo>
                  <a:cubicBezTo>
                    <a:pt x="10632" y="960156"/>
                    <a:pt x="0" y="949524"/>
                    <a:pt x="0" y="936408"/>
                  </a:cubicBezTo>
                  <a:lnTo>
                    <a:pt x="0" y="23748"/>
                  </a:lnTo>
                  <a:cubicBezTo>
                    <a:pt x="0" y="10632"/>
                    <a:pt x="10632" y="0"/>
                    <a:pt x="23748" y="0"/>
                  </a:cubicBezTo>
                  <a:close/>
                </a:path>
              </a:pathLst>
            </a:custGeom>
            <a:blipFill>
              <a:blip r:embed="rId4"/>
              <a:stretch>
                <a:fillRect l="-32367" r="-32367"/>
              </a:stretch>
            </a:blipFill>
          </p:spPr>
        </p:sp>
      </p:grpSp>
      <p:sp>
        <p:nvSpPr>
          <p:cNvPr id="5" name="TextBox 5"/>
          <p:cNvSpPr txBox="1"/>
          <p:nvPr/>
        </p:nvSpPr>
        <p:spPr>
          <a:xfrm>
            <a:off x="10244381" y="2326383"/>
            <a:ext cx="7014919"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PRE -TRAINED</a:t>
            </a:r>
          </a:p>
        </p:txBody>
      </p:sp>
      <p:sp>
        <p:nvSpPr>
          <p:cNvPr id="6" name="TextBox 6"/>
          <p:cNvSpPr txBox="1"/>
          <p:nvPr/>
        </p:nvSpPr>
        <p:spPr>
          <a:xfrm>
            <a:off x="10244381" y="5113277"/>
            <a:ext cx="7014919" cy="2323465"/>
          </a:xfrm>
          <a:prstGeom prst="rect">
            <a:avLst/>
          </a:prstGeom>
        </p:spPr>
        <p:txBody>
          <a:bodyPr lIns="0" tIns="0" rIns="0" bIns="0" rtlCol="0" anchor="t">
            <a:spAutoFit/>
          </a:bodyPr>
          <a:lstStyle/>
          <a:p>
            <a:pPr marL="410209" lvl="1" indent="-205105" algn="l">
              <a:lnSpc>
                <a:spcPts val="2659"/>
              </a:lnSpc>
              <a:buFont typeface="Arial"/>
              <a:buChar char="•"/>
            </a:pPr>
            <a:r>
              <a:rPr lang="en-US" sz="1899" b="1" u="none" spc="5">
                <a:solidFill>
                  <a:srgbClr val="214492"/>
                </a:solidFill>
                <a:latin typeface="Inter Medium"/>
                <a:ea typeface="Inter Medium"/>
                <a:cs typeface="Inter Medium"/>
                <a:sym typeface="Inter Medium"/>
              </a:rPr>
              <a:t>Simpler to start out with</a:t>
            </a:r>
          </a:p>
          <a:p>
            <a:pPr marL="410209" lvl="1" indent="-205105" algn="l">
              <a:lnSpc>
                <a:spcPts val="2659"/>
              </a:lnSpc>
              <a:buFont typeface="Arial"/>
              <a:buChar char="•"/>
            </a:pPr>
            <a:r>
              <a:rPr lang="en-US" sz="1899" b="1" u="none" spc="5">
                <a:solidFill>
                  <a:srgbClr val="214492"/>
                </a:solidFill>
                <a:latin typeface="Inter Medium"/>
                <a:ea typeface="Inter Medium"/>
                <a:cs typeface="Inter Medium"/>
                <a:sym typeface="Inter Medium"/>
              </a:rPr>
              <a:t>Particularly good to use for detecting surfers because of the ability to handle various orientations and object scales</a:t>
            </a:r>
          </a:p>
          <a:p>
            <a:pPr marL="410209" lvl="1" indent="-205105" algn="l">
              <a:lnSpc>
                <a:spcPts val="2659"/>
              </a:lnSpc>
              <a:buFont typeface="Arial"/>
              <a:buChar char="•"/>
            </a:pPr>
            <a:r>
              <a:rPr lang="en-US" sz="1899" b="1" u="none" spc="5">
                <a:solidFill>
                  <a:srgbClr val="214492"/>
                </a:solidFill>
                <a:latin typeface="Inter Medium"/>
                <a:ea typeface="Inter Medium"/>
                <a:cs typeface="Inter Medium"/>
                <a:sym typeface="Inter Medium"/>
              </a:rPr>
              <a:t>YOLOv5 model is single-shot object detection and uses CNNs to process image in single pass</a:t>
            </a:r>
          </a:p>
          <a:p>
            <a:pPr marL="0" lvl="0" indent="0" algn="l">
              <a:lnSpc>
                <a:spcPts val="2659"/>
              </a:lnSpc>
            </a:pPr>
            <a:endParaRPr lang="en-US" sz="1899" b="1" u="none" spc="5">
              <a:solidFill>
                <a:srgbClr val="214492"/>
              </a:solidFill>
              <a:latin typeface="Inter Medium"/>
              <a:ea typeface="Inter Medium"/>
              <a:cs typeface="Inter Medium"/>
              <a:sym typeface="Inter Medium"/>
            </a:endParaRPr>
          </a:p>
        </p:txBody>
      </p:sp>
      <p:sp>
        <p:nvSpPr>
          <p:cNvPr id="7" name="TextBox 7"/>
          <p:cNvSpPr txBox="1"/>
          <p:nvPr/>
        </p:nvSpPr>
        <p:spPr>
          <a:xfrm>
            <a:off x="10244381" y="4216990"/>
            <a:ext cx="7014919" cy="741078"/>
          </a:xfrm>
          <a:prstGeom prst="rect">
            <a:avLst/>
          </a:prstGeom>
        </p:spPr>
        <p:txBody>
          <a:bodyPr lIns="0" tIns="0" rIns="0" bIns="0" rtlCol="0" anchor="t">
            <a:spAutoFit/>
          </a:bodyPr>
          <a:lstStyle/>
          <a:p>
            <a:pPr algn="l">
              <a:lnSpc>
                <a:spcPts val="4787"/>
              </a:lnSpc>
            </a:pPr>
            <a:r>
              <a:rPr lang="en-US" sz="4352" b="1">
                <a:solidFill>
                  <a:srgbClr val="214492"/>
                </a:solidFill>
                <a:latin typeface="Agrandir Narrow Medium"/>
                <a:ea typeface="Agrandir Narrow Medium"/>
                <a:cs typeface="Agrandir Narrow Medium"/>
                <a:sym typeface="Agrandir Narrow Medium"/>
              </a:rPr>
              <a:t>YOLOV5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grpSp>
        <p:nvGrpSpPr>
          <p:cNvPr id="3" name="Group 3"/>
          <p:cNvGrpSpPr/>
          <p:nvPr/>
        </p:nvGrpSpPr>
        <p:grpSpPr>
          <a:xfrm>
            <a:off x="2340566" y="3641156"/>
            <a:ext cx="7780101" cy="1497541"/>
            <a:chOff x="0" y="0"/>
            <a:chExt cx="1460194" cy="281063"/>
          </a:xfrm>
        </p:grpSpPr>
        <p:sp>
          <p:nvSpPr>
            <p:cNvPr id="4" name="Freeform 4"/>
            <p:cNvSpPr/>
            <p:nvPr/>
          </p:nvSpPr>
          <p:spPr>
            <a:xfrm>
              <a:off x="0" y="0"/>
              <a:ext cx="1460194" cy="281063"/>
            </a:xfrm>
            <a:custGeom>
              <a:avLst/>
              <a:gdLst/>
              <a:ahLst/>
              <a:cxnLst/>
              <a:rect l="l" t="t" r="r" b="b"/>
              <a:pathLst>
                <a:path w="1460194" h="281063">
                  <a:moveTo>
                    <a:pt x="10946" y="0"/>
                  </a:moveTo>
                  <a:lnTo>
                    <a:pt x="1449248" y="0"/>
                  </a:lnTo>
                  <a:cubicBezTo>
                    <a:pt x="1455293" y="0"/>
                    <a:pt x="1460194" y="4901"/>
                    <a:pt x="1460194" y="10946"/>
                  </a:cubicBezTo>
                  <a:lnTo>
                    <a:pt x="1460194" y="270117"/>
                  </a:lnTo>
                  <a:cubicBezTo>
                    <a:pt x="1460194" y="276162"/>
                    <a:pt x="1455293" y="281063"/>
                    <a:pt x="1449248" y="281063"/>
                  </a:cubicBezTo>
                  <a:lnTo>
                    <a:pt x="10946" y="281063"/>
                  </a:lnTo>
                  <a:cubicBezTo>
                    <a:pt x="4901" y="281063"/>
                    <a:pt x="0" y="276162"/>
                    <a:pt x="0" y="270117"/>
                  </a:cubicBezTo>
                  <a:lnTo>
                    <a:pt x="0" y="10946"/>
                  </a:lnTo>
                  <a:cubicBezTo>
                    <a:pt x="0" y="4901"/>
                    <a:pt x="4901" y="0"/>
                    <a:pt x="10946" y="0"/>
                  </a:cubicBezTo>
                  <a:close/>
                </a:path>
              </a:pathLst>
            </a:custGeom>
            <a:solidFill>
              <a:srgbClr val="B0E4E8"/>
            </a:solidFill>
            <a:ln w="19050" cap="sq">
              <a:solidFill>
                <a:srgbClr val="100000"/>
              </a:solidFill>
              <a:prstDash val="solid"/>
              <a:miter/>
            </a:ln>
          </p:spPr>
        </p:sp>
        <p:sp>
          <p:nvSpPr>
            <p:cNvPr id="5" name="TextBox 5"/>
            <p:cNvSpPr txBox="1"/>
            <p:nvPr/>
          </p:nvSpPr>
          <p:spPr>
            <a:xfrm>
              <a:off x="0" y="0"/>
              <a:ext cx="1460194" cy="281063"/>
            </a:xfrm>
            <a:prstGeom prst="rect">
              <a:avLst/>
            </a:prstGeom>
          </p:spPr>
          <p:txBody>
            <a:bodyPr lIns="50800" tIns="50800" rIns="50800" bIns="50800" rtlCol="0" anchor="ctr"/>
            <a:lstStyle/>
            <a:p>
              <a:pPr marL="0" lvl="0" indent="0" algn="ctr">
                <a:lnSpc>
                  <a:spcPts val="2879"/>
                </a:lnSpc>
                <a:spcBef>
                  <a:spcPct val="0"/>
                </a:spcBef>
              </a:pPr>
              <a:r>
                <a:rPr lang="en-US" sz="2399" b="1">
                  <a:solidFill>
                    <a:srgbClr val="214492"/>
                  </a:solidFill>
                  <a:latin typeface="Inter Bold"/>
                  <a:ea typeface="Inter Bold"/>
                  <a:cs typeface="Inter Bold"/>
                  <a:sym typeface="Inter Bold"/>
                </a:rPr>
                <a:t>Backbone:</a:t>
              </a:r>
              <a:r>
                <a:rPr lang="en-US" sz="2399" b="1">
                  <a:solidFill>
                    <a:srgbClr val="214492"/>
                  </a:solidFill>
                  <a:latin typeface="Inter Medium"/>
                  <a:ea typeface="Inter Medium"/>
                  <a:cs typeface="Inter Medium"/>
                  <a:sym typeface="Inter Medium"/>
                </a:rPr>
                <a:t> Main body of the network using CNN structure specifically CSPDarknet53</a:t>
              </a:r>
            </a:p>
          </p:txBody>
        </p:sp>
      </p:grpSp>
      <p:grpSp>
        <p:nvGrpSpPr>
          <p:cNvPr id="6" name="Group 6"/>
          <p:cNvGrpSpPr/>
          <p:nvPr/>
        </p:nvGrpSpPr>
        <p:grpSpPr>
          <a:xfrm>
            <a:off x="549886" y="3641156"/>
            <a:ext cx="1497541" cy="14975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B0E4E8"/>
            </a:solidFill>
            <a:ln w="19050" cap="rnd">
              <a:solidFill>
                <a:srgbClr val="100000"/>
              </a:solidFill>
              <a:prstDash val="solid"/>
              <a:round/>
            </a:ln>
          </p:spPr>
        </p:sp>
        <p:sp>
          <p:nvSpPr>
            <p:cNvPr id="8" name="TextBox 8"/>
            <p:cNvSpPr txBox="1"/>
            <p:nvPr/>
          </p:nvSpPr>
          <p:spPr>
            <a:xfrm>
              <a:off x="76200" y="76200"/>
              <a:ext cx="660400" cy="660400"/>
            </a:xfrm>
            <a:prstGeom prst="rect">
              <a:avLst/>
            </a:prstGeom>
          </p:spPr>
          <p:txBody>
            <a:bodyPr lIns="50800" tIns="50800" rIns="50800" bIns="50800" rtlCol="0" anchor="ctr"/>
            <a:lstStyle/>
            <a:p>
              <a:pPr marL="0" lvl="0" indent="0" algn="ctr">
                <a:lnSpc>
                  <a:spcPts val="2879"/>
                </a:lnSpc>
                <a:spcBef>
                  <a:spcPct val="0"/>
                </a:spcBef>
              </a:pPr>
              <a:endParaRPr/>
            </a:p>
          </p:txBody>
        </p:sp>
      </p:grpSp>
      <p:grpSp>
        <p:nvGrpSpPr>
          <p:cNvPr id="9" name="Group 9"/>
          <p:cNvGrpSpPr/>
          <p:nvPr/>
        </p:nvGrpSpPr>
        <p:grpSpPr>
          <a:xfrm>
            <a:off x="2340566" y="5283702"/>
            <a:ext cx="7780101" cy="1743363"/>
            <a:chOff x="0" y="0"/>
            <a:chExt cx="1460194" cy="327200"/>
          </a:xfrm>
        </p:grpSpPr>
        <p:sp>
          <p:nvSpPr>
            <p:cNvPr id="10" name="Freeform 10"/>
            <p:cNvSpPr/>
            <p:nvPr/>
          </p:nvSpPr>
          <p:spPr>
            <a:xfrm>
              <a:off x="0" y="0"/>
              <a:ext cx="1460194" cy="327200"/>
            </a:xfrm>
            <a:custGeom>
              <a:avLst/>
              <a:gdLst/>
              <a:ahLst/>
              <a:cxnLst/>
              <a:rect l="l" t="t" r="r" b="b"/>
              <a:pathLst>
                <a:path w="1460194" h="327200">
                  <a:moveTo>
                    <a:pt x="10946" y="0"/>
                  </a:moveTo>
                  <a:lnTo>
                    <a:pt x="1449248" y="0"/>
                  </a:lnTo>
                  <a:cubicBezTo>
                    <a:pt x="1455293" y="0"/>
                    <a:pt x="1460194" y="4901"/>
                    <a:pt x="1460194" y="10946"/>
                  </a:cubicBezTo>
                  <a:lnTo>
                    <a:pt x="1460194" y="316254"/>
                  </a:lnTo>
                  <a:cubicBezTo>
                    <a:pt x="1460194" y="322299"/>
                    <a:pt x="1455293" y="327200"/>
                    <a:pt x="1449248" y="327200"/>
                  </a:cubicBezTo>
                  <a:lnTo>
                    <a:pt x="10946" y="327200"/>
                  </a:lnTo>
                  <a:cubicBezTo>
                    <a:pt x="4901" y="327200"/>
                    <a:pt x="0" y="322299"/>
                    <a:pt x="0" y="316254"/>
                  </a:cubicBezTo>
                  <a:lnTo>
                    <a:pt x="0" y="10946"/>
                  </a:lnTo>
                  <a:cubicBezTo>
                    <a:pt x="0" y="4901"/>
                    <a:pt x="4901" y="0"/>
                    <a:pt x="10946" y="0"/>
                  </a:cubicBezTo>
                  <a:close/>
                </a:path>
              </a:pathLst>
            </a:custGeom>
            <a:solidFill>
              <a:srgbClr val="B0E4E8"/>
            </a:solidFill>
            <a:ln w="19050" cap="sq">
              <a:solidFill>
                <a:srgbClr val="100000"/>
              </a:solidFill>
              <a:prstDash val="solid"/>
              <a:miter/>
            </a:ln>
          </p:spPr>
        </p:sp>
        <p:sp>
          <p:nvSpPr>
            <p:cNvPr id="11" name="TextBox 11"/>
            <p:cNvSpPr txBox="1"/>
            <p:nvPr/>
          </p:nvSpPr>
          <p:spPr>
            <a:xfrm>
              <a:off x="0" y="0"/>
              <a:ext cx="1460194" cy="327200"/>
            </a:xfrm>
            <a:prstGeom prst="rect">
              <a:avLst/>
            </a:prstGeom>
          </p:spPr>
          <p:txBody>
            <a:bodyPr lIns="50800" tIns="50800" rIns="50800" bIns="50800" rtlCol="0" anchor="ctr"/>
            <a:lstStyle/>
            <a:p>
              <a:pPr marL="0" lvl="0" indent="0" algn="ctr">
                <a:lnSpc>
                  <a:spcPts val="2879"/>
                </a:lnSpc>
                <a:spcBef>
                  <a:spcPct val="0"/>
                </a:spcBef>
              </a:pPr>
              <a:r>
                <a:rPr lang="en-US" sz="2399" b="1">
                  <a:solidFill>
                    <a:srgbClr val="214492"/>
                  </a:solidFill>
                  <a:latin typeface="Inter Bold"/>
                  <a:ea typeface="Inter Bold"/>
                  <a:cs typeface="Inter Bold"/>
                  <a:sym typeface="Inter Bold"/>
                </a:rPr>
                <a:t>Neck: </a:t>
              </a:r>
              <a:r>
                <a:rPr lang="en-US" sz="2399" b="1">
                  <a:solidFill>
                    <a:srgbClr val="214492"/>
                  </a:solidFill>
                  <a:latin typeface="Inter Medium"/>
                  <a:ea typeface="Inter Medium"/>
                  <a:cs typeface="Inter Medium"/>
                  <a:sym typeface="Inter Medium"/>
                </a:rPr>
                <a:t>Spatial pyramid pooling fast (extract features from images)and path aggregation network structures (combine features from different layers)used</a:t>
              </a:r>
            </a:p>
          </p:txBody>
        </p:sp>
      </p:grpSp>
      <p:grpSp>
        <p:nvGrpSpPr>
          <p:cNvPr id="12" name="Group 12"/>
          <p:cNvGrpSpPr/>
          <p:nvPr/>
        </p:nvGrpSpPr>
        <p:grpSpPr>
          <a:xfrm>
            <a:off x="549886" y="5406613"/>
            <a:ext cx="1497541" cy="149754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B0E4E8"/>
            </a:solidFill>
            <a:ln w="19050" cap="rnd">
              <a:solidFill>
                <a:srgbClr val="100000"/>
              </a:solidFill>
              <a:prstDash val="solid"/>
              <a:round/>
            </a:ln>
          </p:spPr>
        </p:sp>
        <p:sp>
          <p:nvSpPr>
            <p:cNvPr id="14" name="TextBox 14"/>
            <p:cNvSpPr txBox="1"/>
            <p:nvPr/>
          </p:nvSpPr>
          <p:spPr>
            <a:xfrm>
              <a:off x="76200" y="76200"/>
              <a:ext cx="660400" cy="660400"/>
            </a:xfrm>
            <a:prstGeom prst="rect">
              <a:avLst/>
            </a:prstGeom>
          </p:spPr>
          <p:txBody>
            <a:bodyPr lIns="50800" tIns="50800" rIns="50800" bIns="50800" rtlCol="0" anchor="ctr"/>
            <a:lstStyle/>
            <a:p>
              <a:pPr marL="0" lvl="0" indent="0" algn="ctr">
                <a:lnSpc>
                  <a:spcPts val="2879"/>
                </a:lnSpc>
                <a:spcBef>
                  <a:spcPct val="0"/>
                </a:spcBef>
              </a:pPr>
              <a:endParaRPr/>
            </a:p>
          </p:txBody>
        </p:sp>
      </p:grpSp>
      <p:grpSp>
        <p:nvGrpSpPr>
          <p:cNvPr id="15" name="Group 15"/>
          <p:cNvGrpSpPr/>
          <p:nvPr/>
        </p:nvGrpSpPr>
        <p:grpSpPr>
          <a:xfrm>
            <a:off x="2340566" y="7169832"/>
            <a:ext cx="7780101" cy="1497541"/>
            <a:chOff x="0" y="0"/>
            <a:chExt cx="1460194" cy="281063"/>
          </a:xfrm>
        </p:grpSpPr>
        <p:sp>
          <p:nvSpPr>
            <p:cNvPr id="16" name="Freeform 16"/>
            <p:cNvSpPr/>
            <p:nvPr/>
          </p:nvSpPr>
          <p:spPr>
            <a:xfrm>
              <a:off x="0" y="0"/>
              <a:ext cx="1460194" cy="281063"/>
            </a:xfrm>
            <a:custGeom>
              <a:avLst/>
              <a:gdLst/>
              <a:ahLst/>
              <a:cxnLst/>
              <a:rect l="l" t="t" r="r" b="b"/>
              <a:pathLst>
                <a:path w="1460194" h="281063">
                  <a:moveTo>
                    <a:pt x="10946" y="0"/>
                  </a:moveTo>
                  <a:lnTo>
                    <a:pt x="1449248" y="0"/>
                  </a:lnTo>
                  <a:cubicBezTo>
                    <a:pt x="1455293" y="0"/>
                    <a:pt x="1460194" y="4901"/>
                    <a:pt x="1460194" y="10946"/>
                  </a:cubicBezTo>
                  <a:lnTo>
                    <a:pt x="1460194" y="270117"/>
                  </a:lnTo>
                  <a:cubicBezTo>
                    <a:pt x="1460194" y="276162"/>
                    <a:pt x="1455293" y="281063"/>
                    <a:pt x="1449248" y="281063"/>
                  </a:cubicBezTo>
                  <a:lnTo>
                    <a:pt x="10946" y="281063"/>
                  </a:lnTo>
                  <a:cubicBezTo>
                    <a:pt x="4901" y="281063"/>
                    <a:pt x="0" y="276162"/>
                    <a:pt x="0" y="270117"/>
                  </a:cubicBezTo>
                  <a:lnTo>
                    <a:pt x="0" y="10946"/>
                  </a:lnTo>
                  <a:cubicBezTo>
                    <a:pt x="0" y="4901"/>
                    <a:pt x="4901" y="0"/>
                    <a:pt x="10946" y="0"/>
                  </a:cubicBezTo>
                  <a:close/>
                </a:path>
              </a:pathLst>
            </a:custGeom>
            <a:solidFill>
              <a:srgbClr val="B0E4E8"/>
            </a:solidFill>
            <a:ln w="19050" cap="sq">
              <a:solidFill>
                <a:srgbClr val="100000"/>
              </a:solidFill>
              <a:prstDash val="solid"/>
              <a:miter/>
            </a:ln>
          </p:spPr>
        </p:sp>
        <p:sp>
          <p:nvSpPr>
            <p:cNvPr id="17" name="TextBox 17"/>
            <p:cNvSpPr txBox="1"/>
            <p:nvPr/>
          </p:nvSpPr>
          <p:spPr>
            <a:xfrm>
              <a:off x="0" y="0"/>
              <a:ext cx="1460194" cy="281063"/>
            </a:xfrm>
            <a:prstGeom prst="rect">
              <a:avLst/>
            </a:prstGeom>
          </p:spPr>
          <p:txBody>
            <a:bodyPr lIns="50800" tIns="50800" rIns="50800" bIns="50800" rtlCol="0" anchor="ctr"/>
            <a:lstStyle/>
            <a:p>
              <a:pPr marL="0" lvl="0" indent="0" algn="ctr">
                <a:lnSpc>
                  <a:spcPts val="2879"/>
                </a:lnSpc>
                <a:spcBef>
                  <a:spcPct val="0"/>
                </a:spcBef>
              </a:pPr>
              <a:r>
                <a:rPr lang="en-US" sz="2399" b="1">
                  <a:solidFill>
                    <a:srgbClr val="214492"/>
                  </a:solidFill>
                  <a:latin typeface="Inter Bold"/>
                  <a:ea typeface="Inter Bold"/>
                  <a:cs typeface="Inter Bold"/>
                  <a:sym typeface="Inter Bold"/>
                </a:rPr>
                <a:t>Head: </a:t>
              </a:r>
              <a:r>
                <a:rPr lang="en-US" sz="2399" b="1">
                  <a:solidFill>
                    <a:srgbClr val="214492"/>
                  </a:solidFill>
                  <a:latin typeface="Inter Medium"/>
                  <a:ea typeface="Inter Medium"/>
                  <a:cs typeface="Inter Medium"/>
                  <a:sym typeface="Inter Medium"/>
                </a:rPr>
                <a:t>generates the output</a:t>
              </a:r>
            </a:p>
          </p:txBody>
        </p:sp>
      </p:grpSp>
      <p:grpSp>
        <p:nvGrpSpPr>
          <p:cNvPr id="18" name="Group 18"/>
          <p:cNvGrpSpPr/>
          <p:nvPr/>
        </p:nvGrpSpPr>
        <p:grpSpPr>
          <a:xfrm>
            <a:off x="549886" y="7169832"/>
            <a:ext cx="1497541" cy="149754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B0E4E8"/>
            </a:solidFill>
            <a:ln w="19050" cap="rnd">
              <a:solidFill>
                <a:srgbClr val="100000"/>
              </a:solidFill>
              <a:prstDash val="solid"/>
              <a:round/>
            </a:ln>
          </p:spPr>
        </p:sp>
        <p:sp>
          <p:nvSpPr>
            <p:cNvPr id="20" name="TextBox 20"/>
            <p:cNvSpPr txBox="1"/>
            <p:nvPr/>
          </p:nvSpPr>
          <p:spPr>
            <a:xfrm>
              <a:off x="76200" y="76200"/>
              <a:ext cx="660400" cy="660400"/>
            </a:xfrm>
            <a:prstGeom prst="rect">
              <a:avLst/>
            </a:prstGeom>
          </p:spPr>
          <p:txBody>
            <a:bodyPr lIns="50800" tIns="50800" rIns="50800" bIns="50800" rtlCol="0" anchor="ctr"/>
            <a:lstStyle/>
            <a:p>
              <a:pPr marL="0" lvl="0" indent="0" algn="ctr">
                <a:lnSpc>
                  <a:spcPts val="2879"/>
                </a:lnSpc>
                <a:spcBef>
                  <a:spcPct val="0"/>
                </a:spcBef>
              </a:pPr>
              <a:endParaRPr/>
            </a:p>
          </p:txBody>
        </p:sp>
      </p:grpSp>
      <p:sp>
        <p:nvSpPr>
          <p:cNvPr id="21" name="Freeform 21"/>
          <p:cNvSpPr/>
          <p:nvPr/>
        </p:nvSpPr>
        <p:spPr>
          <a:xfrm>
            <a:off x="10415942" y="3641156"/>
            <a:ext cx="7255721" cy="5042726"/>
          </a:xfrm>
          <a:custGeom>
            <a:avLst/>
            <a:gdLst/>
            <a:ahLst/>
            <a:cxnLst/>
            <a:rect l="l" t="t" r="r" b="b"/>
            <a:pathLst>
              <a:path w="7255721" h="5042726">
                <a:moveTo>
                  <a:pt x="0" y="0"/>
                </a:moveTo>
                <a:lnTo>
                  <a:pt x="7255721" y="0"/>
                </a:lnTo>
                <a:lnTo>
                  <a:pt x="7255721" y="5042726"/>
                </a:lnTo>
                <a:lnTo>
                  <a:pt x="0" y="5042726"/>
                </a:lnTo>
                <a:lnTo>
                  <a:pt x="0" y="0"/>
                </a:lnTo>
                <a:close/>
              </a:path>
            </a:pathLst>
          </a:custGeom>
          <a:blipFill>
            <a:blip r:embed="rId4"/>
            <a:stretch>
              <a:fillRect/>
            </a:stretch>
          </a:blipFill>
        </p:spPr>
      </p:sp>
      <p:sp>
        <p:nvSpPr>
          <p:cNvPr id="22" name="TextBox 22"/>
          <p:cNvSpPr txBox="1"/>
          <p:nvPr/>
        </p:nvSpPr>
        <p:spPr>
          <a:xfrm>
            <a:off x="2756463" y="1403119"/>
            <a:ext cx="12775073" cy="1029367"/>
          </a:xfrm>
          <a:prstGeom prst="rect">
            <a:avLst/>
          </a:prstGeom>
        </p:spPr>
        <p:txBody>
          <a:bodyPr lIns="0" tIns="0" rIns="0" bIns="0" rtlCol="0" anchor="t">
            <a:spAutoFit/>
          </a:bodyPr>
          <a:lstStyle/>
          <a:p>
            <a:pPr algn="ctr">
              <a:lnSpc>
                <a:spcPts val="6657"/>
              </a:lnSpc>
            </a:pPr>
            <a:r>
              <a:rPr lang="en-US" sz="6052" b="1">
                <a:solidFill>
                  <a:srgbClr val="FFFFFF"/>
                </a:solidFill>
                <a:latin typeface="Agrandir Narrow Bold"/>
                <a:ea typeface="Agrandir Narrow Bold"/>
                <a:cs typeface="Agrandir Narrow Bold"/>
                <a:sym typeface="Agrandir Narrow Bold"/>
              </a:rPr>
              <a:t>YOLOV5 ARCHITECTURE</a:t>
            </a:r>
          </a:p>
        </p:txBody>
      </p:sp>
      <p:sp>
        <p:nvSpPr>
          <p:cNvPr id="23" name="TextBox 23"/>
          <p:cNvSpPr txBox="1"/>
          <p:nvPr/>
        </p:nvSpPr>
        <p:spPr>
          <a:xfrm>
            <a:off x="803292" y="3915345"/>
            <a:ext cx="990729" cy="962025"/>
          </a:xfrm>
          <a:prstGeom prst="rect">
            <a:avLst/>
          </a:prstGeom>
        </p:spPr>
        <p:txBody>
          <a:bodyPr lIns="0" tIns="0" rIns="0" bIns="0" rtlCol="0" anchor="t">
            <a:spAutoFit/>
          </a:bodyPr>
          <a:lstStyle/>
          <a:p>
            <a:pPr algn="ctr">
              <a:lnSpc>
                <a:spcPts val="6405"/>
              </a:lnSpc>
            </a:pPr>
            <a:r>
              <a:rPr lang="en-US" sz="5337" b="1" spc="-186">
                <a:solidFill>
                  <a:srgbClr val="214492"/>
                </a:solidFill>
                <a:latin typeface="Agrandir Narrow Bold"/>
                <a:ea typeface="Agrandir Narrow Bold"/>
                <a:cs typeface="Agrandir Narrow Bold"/>
                <a:sym typeface="Agrandir Narrow Bold"/>
              </a:rPr>
              <a:t>01</a:t>
            </a:r>
          </a:p>
        </p:txBody>
      </p:sp>
      <p:sp>
        <p:nvSpPr>
          <p:cNvPr id="24" name="TextBox 24"/>
          <p:cNvSpPr txBox="1"/>
          <p:nvPr/>
        </p:nvSpPr>
        <p:spPr>
          <a:xfrm>
            <a:off x="803292" y="5682412"/>
            <a:ext cx="990729" cy="962025"/>
          </a:xfrm>
          <a:prstGeom prst="rect">
            <a:avLst/>
          </a:prstGeom>
        </p:spPr>
        <p:txBody>
          <a:bodyPr lIns="0" tIns="0" rIns="0" bIns="0" rtlCol="0" anchor="t">
            <a:spAutoFit/>
          </a:bodyPr>
          <a:lstStyle/>
          <a:p>
            <a:pPr marL="0" lvl="0" indent="0" algn="ctr">
              <a:lnSpc>
                <a:spcPts val="6405"/>
              </a:lnSpc>
              <a:spcBef>
                <a:spcPct val="0"/>
              </a:spcBef>
            </a:pPr>
            <a:r>
              <a:rPr lang="en-US" sz="5337" b="1" u="none" strike="noStrike" spc="-186">
                <a:solidFill>
                  <a:srgbClr val="214492"/>
                </a:solidFill>
                <a:latin typeface="Agrandir Narrow Bold"/>
                <a:ea typeface="Agrandir Narrow Bold"/>
                <a:cs typeface="Agrandir Narrow Bold"/>
                <a:sym typeface="Agrandir Narrow Bold"/>
              </a:rPr>
              <a:t>02</a:t>
            </a:r>
          </a:p>
        </p:txBody>
      </p:sp>
      <p:sp>
        <p:nvSpPr>
          <p:cNvPr id="25" name="TextBox 25"/>
          <p:cNvSpPr txBox="1"/>
          <p:nvPr/>
        </p:nvSpPr>
        <p:spPr>
          <a:xfrm>
            <a:off x="803292" y="7464688"/>
            <a:ext cx="990729" cy="962025"/>
          </a:xfrm>
          <a:prstGeom prst="rect">
            <a:avLst/>
          </a:prstGeom>
        </p:spPr>
        <p:txBody>
          <a:bodyPr lIns="0" tIns="0" rIns="0" bIns="0" rtlCol="0" anchor="t">
            <a:spAutoFit/>
          </a:bodyPr>
          <a:lstStyle/>
          <a:p>
            <a:pPr marL="0" lvl="0" indent="0" algn="ctr">
              <a:lnSpc>
                <a:spcPts val="6405"/>
              </a:lnSpc>
              <a:spcBef>
                <a:spcPct val="0"/>
              </a:spcBef>
            </a:pPr>
            <a:r>
              <a:rPr lang="en-US" sz="5337" b="1" u="none" strike="noStrike" spc="-186">
                <a:solidFill>
                  <a:srgbClr val="214492"/>
                </a:solidFill>
                <a:latin typeface="Agrandir Narrow Bold"/>
                <a:ea typeface="Agrandir Narrow Bold"/>
                <a:cs typeface="Agrandir Narrow Bold"/>
                <a:sym typeface="Agrandir Narrow Bold"/>
              </a:rPr>
              <a:t>03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Freeform 3"/>
          <p:cNvSpPr/>
          <p:nvPr/>
        </p:nvSpPr>
        <p:spPr>
          <a:xfrm>
            <a:off x="6598208" y="4912912"/>
            <a:ext cx="5091585" cy="5123216"/>
          </a:xfrm>
          <a:custGeom>
            <a:avLst/>
            <a:gdLst/>
            <a:ahLst/>
            <a:cxnLst/>
            <a:rect l="l" t="t" r="r" b="b"/>
            <a:pathLst>
              <a:path w="5091585" h="5123216">
                <a:moveTo>
                  <a:pt x="0" y="0"/>
                </a:moveTo>
                <a:lnTo>
                  <a:pt x="5091584" y="0"/>
                </a:lnTo>
                <a:lnTo>
                  <a:pt x="5091584" y="5123217"/>
                </a:lnTo>
                <a:lnTo>
                  <a:pt x="0" y="5123217"/>
                </a:lnTo>
                <a:lnTo>
                  <a:pt x="0" y="0"/>
                </a:lnTo>
                <a:close/>
              </a:path>
            </a:pathLst>
          </a:custGeom>
          <a:blipFill>
            <a:blip r:embed="rId4"/>
            <a:stretch>
              <a:fillRect l="-420" t="-554"/>
            </a:stretch>
          </a:blipFill>
        </p:spPr>
      </p:sp>
      <p:sp>
        <p:nvSpPr>
          <p:cNvPr id="4" name="TextBox 4"/>
          <p:cNvSpPr txBox="1"/>
          <p:nvPr/>
        </p:nvSpPr>
        <p:spPr>
          <a:xfrm>
            <a:off x="2756463" y="1403119"/>
            <a:ext cx="12775073" cy="1029367"/>
          </a:xfrm>
          <a:prstGeom prst="rect">
            <a:avLst/>
          </a:prstGeom>
        </p:spPr>
        <p:txBody>
          <a:bodyPr lIns="0" tIns="0" rIns="0" bIns="0" rtlCol="0" anchor="t">
            <a:spAutoFit/>
          </a:bodyPr>
          <a:lstStyle/>
          <a:p>
            <a:pPr algn="ctr">
              <a:lnSpc>
                <a:spcPts val="6657"/>
              </a:lnSpc>
            </a:pPr>
            <a:r>
              <a:rPr lang="en-US" sz="6052" b="1">
                <a:solidFill>
                  <a:srgbClr val="FFFFFF"/>
                </a:solidFill>
                <a:latin typeface="Agrandir Narrow Bold"/>
                <a:ea typeface="Agrandir Narrow Bold"/>
                <a:cs typeface="Agrandir Narrow Bold"/>
                <a:sym typeface="Agrandir Narrow Bold"/>
              </a:rPr>
              <a:t>HOW IT WORKS</a:t>
            </a:r>
          </a:p>
        </p:txBody>
      </p:sp>
      <p:sp>
        <p:nvSpPr>
          <p:cNvPr id="5" name="TextBox 5"/>
          <p:cNvSpPr txBox="1"/>
          <p:nvPr/>
        </p:nvSpPr>
        <p:spPr>
          <a:xfrm>
            <a:off x="3500022" y="2394385"/>
            <a:ext cx="12209607" cy="2841118"/>
          </a:xfrm>
          <a:prstGeom prst="rect">
            <a:avLst/>
          </a:prstGeom>
        </p:spPr>
        <p:txBody>
          <a:bodyPr lIns="0" tIns="0" rIns="0" bIns="0" rtlCol="0" anchor="t">
            <a:spAutoFit/>
          </a:bodyPr>
          <a:lstStyle/>
          <a:p>
            <a:pPr marL="0" lvl="0" indent="0" algn="l">
              <a:lnSpc>
                <a:spcPts val="2162"/>
              </a:lnSpc>
            </a:pPr>
            <a:endParaRPr/>
          </a:p>
          <a:p>
            <a:pPr marL="0" lvl="0" indent="0" algn="l">
              <a:lnSpc>
                <a:spcPts val="2162"/>
              </a:lnSpc>
            </a:pPr>
            <a:r>
              <a:rPr lang="en-US" sz="1544" u="none" spc="92">
                <a:solidFill>
                  <a:srgbClr val="FFFFFF"/>
                </a:solidFill>
                <a:latin typeface="Inter"/>
                <a:ea typeface="Inter"/>
                <a:cs typeface="Inter"/>
                <a:sym typeface="Inter"/>
              </a:rPr>
              <a:t>1. input image</a:t>
            </a:r>
          </a:p>
          <a:p>
            <a:pPr marL="0" lvl="0" indent="0" algn="l">
              <a:lnSpc>
                <a:spcPts val="2162"/>
              </a:lnSpc>
            </a:pPr>
            <a:r>
              <a:rPr lang="en-US" sz="1544" u="none" spc="92">
                <a:solidFill>
                  <a:srgbClr val="FFFFFF"/>
                </a:solidFill>
                <a:latin typeface="Inter"/>
                <a:ea typeface="Inter"/>
                <a:cs typeface="Inter"/>
                <a:sym typeface="Inter"/>
              </a:rPr>
              <a:t>2. divide the image into grid cells in “grid cell” system</a:t>
            </a:r>
          </a:p>
          <a:p>
            <a:pPr marL="0" lvl="0" indent="0" algn="l">
              <a:lnSpc>
                <a:spcPts val="2162"/>
              </a:lnSpc>
            </a:pPr>
            <a:r>
              <a:rPr lang="en-US" sz="1544" u="none" spc="92">
                <a:solidFill>
                  <a:srgbClr val="FFFFFF"/>
                </a:solidFill>
                <a:latin typeface="Inter"/>
                <a:ea typeface="Inter"/>
                <a:cs typeface="Inter"/>
                <a:sym typeface="Inter"/>
              </a:rPr>
              <a:t>3. for each cell predict bounding box (x,y,width, height), confidence score, class probabilities; if object exists and if what is there</a:t>
            </a:r>
          </a:p>
          <a:p>
            <a:pPr marL="0" lvl="0" indent="0" algn="l">
              <a:lnSpc>
                <a:spcPts val="2162"/>
              </a:lnSpc>
            </a:pPr>
            <a:r>
              <a:rPr lang="en-US" sz="1544" u="none" spc="92">
                <a:solidFill>
                  <a:srgbClr val="FFFFFF"/>
                </a:solidFill>
                <a:latin typeface="Inter"/>
                <a:ea typeface="Inter"/>
                <a:cs typeface="Inter"/>
                <a:sym typeface="Inter"/>
              </a:rPr>
              <a:t>4. filter results by keeping boxes with high confidence and apply non-max suppression to remove duplicates, where one object = one box</a:t>
            </a:r>
          </a:p>
          <a:p>
            <a:pPr marL="0" lvl="0" indent="0" algn="l">
              <a:lnSpc>
                <a:spcPts val="2162"/>
              </a:lnSpc>
            </a:pPr>
            <a:r>
              <a:rPr lang="en-US" sz="1544" u="none" spc="92">
                <a:solidFill>
                  <a:srgbClr val="FFFFFF"/>
                </a:solidFill>
                <a:latin typeface="Inter"/>
                <a:ea typeface="Inter"/>
                <a:cs typeface="Inter"/>
                <a:sym typeface="Inter"/>
              </a:rPr>
              <a:t>5. output with bounding box and confidence score or class name</a:t>
            </a:r>
          </a:p>
          <a:p>
            <a:pPr marL="0" lvl="0" indent="0" algn="l">
              <a:lnSpc>
                <a:spcPts val="2162"/>
              </a:lnSpc>
            </a:pPr>
            <a:endParaRPr lang="en-US" sz="1544" u="none" spc="92">
              <a:solidFill>
                <a:srgbClr val="FFFFFF"/>
              </a:solidFill>
              <a:latin typeface="Inter"/>
              <a:ea typeface="Inter"/>
              <a:cs typeface="Inter"/>
              <a:sym typeface="Inter"/>
            </a:endParaRPr>
          </a:p>
          <a:p>
            <a:pPr marL="0" lvl="0" indent="0" algn="l">
              <a:lnSpc>
                <a:spcPts val="1742"/>
              </a:lnSpc>
            </a:pPr>
            <a:endParaRPr lang="en-US" sz="1544" u="none" spc="92">
              <a:solidFill>
                <a:srgbClr val="FFFFFF"/>
              </a:solidFill>
              <a:latin typeface="Inter"/>
              <a:ea typeface="Inter"/>
              <a:cs typeface="Inter"/>
              <a:sym typeface="Inter"/>
            </a:endParaRPr>
          </a:p>
          <a:p>
            <a:pPr marL="0" lvl="0" indent="0" algn="l">
              <a:lnSpc>
                <a:spcPts val="1742"/>
              </a:lnSpc>
            </a:pPr>
            <a:endParaRPr lang="en-US" sz="1544" u="none" spc="92">
              <a:solidFill>
                <a:srgbClr val="FFFFFF"/>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Freeform 3"/>
          <p:cNvSpPr/>
          <p:nvPr/>
        </p:nvSpPr>
        <p:spPr>
          <a:xfrm>
            <a:off x="7726345" y="96851"/>
            <a:ext cx="2284380" cy="402881"/>
          </a:xfrm>
          <a:custGeom>
            <a:avLst/>
            <a:gdLst/>
            <a:ahLst/>
            <a:cxnLst/>
            <a:rect l="l" t="t" r="r" b="b"/>
            <a:pathLst>
              <a:path w="2284380" h="402881">
                <a:moveTo>
                  <a:pt x="0" y="0"/>
                </a:moveTo>
                <a:lnTo>
                  <a:pt x="2284379" y="0"/>
                </a:lnTo>
                <a:lnTo>
                  <a:pt x="2284379" y="402881"/>
                </a:lnTo>
                <a:lnTo>
                  <a:pt x="0" y="4028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726345" y="1386617"/>
            <a:ext cx="2284380" cy="402881"/>
          </a:xfrm>
          <a:custGeom>
            <a:avLst/>
            <a:gdLst/>
            <a:ahLst/>
            <a:cxnLst/>
            <a:rect l="l" t="t" r="r" b="b"/>
            <a:pathLst>
              <a:path w="2284380" h="402881">
                <a:moveTo>
                  <a:pt x="0" y="0"/>
                </a:moveTo>
                <a:lnTo>
                  <a:pt x="2284379" y="0"/>
                </a:lnTo>
                <a:lnTo>
                  <a:pt x="2284379" y="402881"/>
                </a:lnTo>
                <a:lnTo>
                  <a:pt x="0" y="4028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5400000">
            <a:off x="5973432" y="435914"/>
            <a:ext cx="1222369" cy="1350006"/>
          </a:xfrm>
          <a:custGeom>
            <a:avLst/>
            <a:gdLst/>
            <a:ahLst/>
            <a:cxnLst/>
            <a:rect l="l" t="t" r="r" b="b"/>
            <a:pathLst>
              <a:path w="1222369" h="1350006">
                <a:moveTo>
                  <a:pt x="0" y="0"/>
                </a:moveTo>
                <a:lnTo>
                  <a:pt x="1222369" y="0"/>
                </a:lnTo>
                <a:lnTo>
                  <a:pt x="1222369" y="1350006"/>
                </a:lnTo>
                <a:lnTo>
                  <a:pt x="0" y="13500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5273718" flipH="1">
            <a:off x="10347417" y="390128"/>
            <a:ext cx="1222369" cy="1350006"/>
          </a:xfrm>
          <a:custGeom>
            <a:avLst/>
            <a:gdLst/>
            <a:ahLst/>
            <a:cxnLst/>
            <a:rect l="l" t="t" r="r" b="b"/>
            <a:pathLst>
              <a:path w="1222369" h="1350006">
                <a:moveTo>
                  <a:pt x="1222369" y="0"/>
                </a:moveTo>
                <a:lnTo>
                  <a:pt x="0" y="0"/>
                </a:lnTo>
                <a:lnTo>
                  <a:pt x="0" y="1350006"/>
                </a:lnTo>
                <a:lnTo>
                  <a:pt x="1222369" y="1350006"/>
                </a:lnTo>
                <a:lnTo>
                  <a:pt x="1222369"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6463682" y="522166"/>
            <a:ext cx="4817259" cy="957048"/>
          </a:xfrm>
          <a:prstGeom prst="rect">
            <a:avLst/>
          </a:prstGeom>
        </p:spPr>
        <p:txBody>
          <a:bodyPr lIns="0" tIns="0" rIns="0" bIns="0" rtlCol="0" anchor="t">
            <a:spAutoFit/>
          </a:bodyPr>
          <a:lstStyle/>
          <a:p>
            <a:pPr algn="ctr">
              <a:lnSpc>
                <a:spcPts val="6200"/>
              </a:lnSpc>
            </a:pPr>
            <a:r>
              <a:rPr lang="en-US" sz="5637" b="1">
                <a:solidFill>
                  <a:srgbClr val="FFFFFF"/>
                </a:solidFill>
                <a:latin typeface="Agrandir Narrow Bold"/>
                <a:ea typeface="Agrandir Narrow Bold"/>
                <a:cs typeface="Agrandir Narrow Bold"/>
                <a:sym typeface="Agrandir Narrow Bold"/>
              </a:rPr>
              <a:t>RESULTS</a:t>
            </a:r>
          </a:p>
        </p:txBody>
      </p:sp>
      <p:sp>
        <p:nvSpPr>
          <p:cNvPr id="8" name="Freeform 8"/>
          <p:cNvSpPr/>
          <p:nvPr/>
        </p:nvSpPr>
        <p:spPr>
          <a:xfrm rot="-5400000" flipV="1">
            <a:off x="6397680" y="4660799"/>
            <a:ext cx="373874" cy="965402"/>
          </a:xfrm>
          <a:custGeom>
            <a:avLst/>
            <a:gdLst/>
            <a:ahLst/>
            <a:cxnLst/>
            <a:rect l="l" t="t" r="r" b="b"/>
            <a:pathLst>
              <a:path w="373874" h="965402">
                <a:moveTo>
                  <a:pt x="0" y="965402"/>
                </a:moveTo>
                <a:lnTo>
                  <a:pt x="373874" y="965402"/>
                </a:lnTo>
                <a:lnTo>
                  <a:pt x="373874" y="0"/>
                </a:lnTo>
                <a:lnTo>
                  <a:pt x="0" y="0"/>
                </a:lnTo>
                <a:lnTo>
                  <a:pt x="0" y="965402"/>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567018" y="1913323"/>
            <a:ext cx="8085533" cy="8085533"/>
          </a:xfrm>
          <a:custGeom>
            <a:avLst/>
            <a:gdLst/>
            <a:ahLst/>
            <a:cxnLst/>
            <a:rect l="l" t="t" r="r" b="b"/>
            <a:pathLst>
              <a:path w="8085533" h="8085533">
                <a:moveTo>
                  <a:pt x="0" y="0"/>
                </a:moveTo>
                <a:lnTo>
                  <a:pt x="8085533" y="0"/>
                </a:lnTo>
                <a:lnTo>
                  <a:pt x="8085533" y="8085533"/>
                </a:lnTo>
                <a:lnTo>
                  <a:pt x="0" y="8085533"/>
                </a:lnTo>
                <a:lnTo>
                  <a:pt x="0" y="0"/>
                </a:lnTo>
                <a:close/>
              </a:path>
            </a:pathLst>
          </a:custGeom>
          <a:blipFill>
            <a:blip r:embed="rId10"/>
            <a:stretch>
              <a:fillRect/>
            </a:stretch>
          </a:blipFill>
        </p:spPr>
      </p:sp>
      <p:sp>
        <p:nvSpPr>
          <p:cNvPr id="10" name="Freeform 10"/>
          <p:cNvSpPr/>
          <p:nvPr/>
        </p:nvSpPr>
        <p:spPr>
          <a:xfrm>
            <a:off x="9847224" y="1913323"/>
            <a:ext cx="8024891" cy="8085533"/>
          </a:xfrm>
          <a:custGeom>
            <a:avLst/>
            <a:gdLst/>
            <a:ahLst/>
            <a:cxnLst/>
            <a:rect l="l" t="t" r="r" b="b"/>
            <a:pathLst>
              <a:path w="8024891" h="8085533">
                <a:moveTo>
                  <a:pt x="0" y="0"/>
                </a:moveTo>
                <a:lnTo>
                  <a:pt x="8024891" y="0"/>
                </a:lnTo>
                <a:lnTo>
                  <a:pt x="8024891" y="8085533"/>
                </a:lnTo>
                <a:lnTo>
                  <a:pt x="0" y="8085533"/>
                </a:lnTo>
                <a:lnTo>
                  <a:pt x="0" y="0"/>
                </a:lnTo>
                <a:close/>
              </a:path>
            </a:pathLst>
          </a:custGeom>
          <a:blipFill>
            <a:blip r:embed="rId11"/>
            <a:stretch>
              <a:fillRect/>
            </a:stretch>
          </a:blipFill>
        </p:spPr>
      </p:sp>
      <p:sp>
        <p:nvSpPr>
          <p:cNvPr id="11" name="TextBox 11"/>
          <p:cNvSpPr txBox="1"/>
          <p:nvPr/>
        </p:nvSpPr>
        <p:spPr>
          <a:xfrm>
            <a:off x="2066177" y="1198948"/>
            <a:ext cx="3376712" cy="590550"/>
          </a:xfrm>
          <a:prstGeom prst="rect">
            <a:avLst/>
          </a:prstGeom>
        </p:spPr>
        <p:txBody>
          <a:bodyPr lIns="0" tIns="0" rIns="0" bIns="0" rtlCol="0" anchor="t">
            <a:spAutoFit/>
          </a:bodyPr>
          <a:lstStyle/>
          <a:p>
            <a:pPr algn="ctr">
              <a:lnSpc>
                <a:spcPts val="3839"/>
              </a:lnSpc>
              <a:spcBef>
                <a:spcPct val="0"/>
              </a:spcBef>
            </a:pPr>
            <a:r>
              <a:rPr lang="en-US" sz="3199">
                <a:solidFill>
                  <a:srgbClr val="FFFFFF"/>
                </a:solidFill>
                <a:latin typeface="Agrandir Narrow"/>
                <a:ea typeface="Agrandir Narrow"/>
                <a:cs typeface="Agrandir Narrow"/>
                <a:sym typeface="Agrandir Narrow"/>
              </a:rPr>
              <a:t>On - Wave detector</a:t>
            </a:r>
          </a:p>
        </p:txBody>
      </p:sp>
      <p:sp>
        <p:nvSpPr>
          <p:cNvPr id="12" name="TextBox 12"/>
          <p:cNvSpPr txBox="1"/>
          <p:nvPr/>
        </p:nvSpPr>
        <p:spPr>
          <a:xfrm>
            <a:off x="12999431" y="1038954"/>
            <a:ext cx="3009007" cy="590550"/>
          </a:xfrm>
          <a:prstGeom prst="rect">
            <a:avLst/>
          </a:prstGeom>
        </p:spPr>
        <p:txBody>
          <a:bodyPr lIns="0" tIns="0" rIns="0" bIns="0" rtlCol="0" anchor="t">
            <a:spAutoFit/>
          </a:bodyPr>
          <a:lstStyle/>
          <a:p>
            <a:pPr algn="ctr">
              <a:lnSpc>
                <a:spcPts val="3839"/>
              </a:lnSpc>
              <a:spcBef>
                <a:spcPct val="0"/>
              </a:spcBef>
            </a:pPr>
            <a:r>
              <a:rPr lang="en-US" sz="3199">
                <a:solidFill>
                  <a:srgbClr val="FFFFFF"/>
                </a:solidFill>
                <a:latin typeface="Agrandir Narrow"/>
                <a:ea typeface="Agrandir Narrow"/>
                <a:cs typeface="Agrandir Narrow"/>
                <a:sym typeface="Agrandir Narrow"/>
              </a:rPr>
              <a:t>General detector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Freeform 3"/>
          <p:cNvSpPr/>
          <p:nvPr/>
        </p:nvSpPr>
        <p:spPr>
          <a:xfrm>
            <a:off x="1028700" y="3656753"/>
            <a:ext cx="7621055" cy="6268318"/>
          </a:xfrm>
          <a:custGeom>
            <a:avLst/>
            <a:gdLst/>
            <a:ahLst/>
            <a:cxnLst/>
            <a:rect l="l" t="t" r="r" b="b"/>
            <a:pathLst>
              <a:path w="7621055" h="6268318">
                <a:moveTo>
                  <a:pt x="0" y="0"/>
                </a:moveTo>
                <a:lnTo>
                  <a:pt x="7621055" y="0"/>
                </a:lnTo>
                <a:lnTo>
                  <a:pt x="7621055" y="6268317"/>
                </a:lnTo>
                <a:lnTo>
                  <a:pt x="0" y="6268317"/>
                </a:lnTo>
                <a:lnTo>
                  <a:pt x="0" y="0"/>
                </a:lnTo>
                <a:close/>
              </a:path>
            </a:pathLst>
          </a:custGeom>
          <a:blipFill>
            <a:blip r:embed="rId4"/>
            <a:stretch>
              <a:fillRect/>
            </a:stretch>
          </a:blipFill>
        </p:spPr>
      </p:sp>
      <p:sp>
        <p:nvSpPr>
          <p:cNvPr id="4" name="Freeform 4"/>
          <p:cNvSpPr/>
          <p:nvPr/>
        </p:nvSpPr>
        <p:spPr>
          <a:xfrm>
            <a:off x="9638245" y="3656753"/>
            <a:ext cx="7621055" cy="6268318"/>
          </a:xfrm>
          <a:custGeom>
            <a:avLst/>
            <a:gdLst/>
            <a:ahLst/>
            <a:cxnLst/>
            <a:rect l="l" t="t" r="r" b="b"/>
            <a:pathLst>
              <a:path w="7621055" h="6268318">
                <a:moveTo>
                  <a:pt x="0" y="0"/>
                </a:moveTo>
                <a:lnTo>
                  <a:pt x="7621055" y="0"/>
                </a:lnTo>
                <a:lnTo>
                  <a:pt x="7621055" y="6268317"/>
                </a:lnTo>
                <a:lnTo>
                  <a:pt x="0" y="6268317"/>
                </a:lnTo>
                <a:lnTo>
                  <a:pt x="0" y="0"/>
                </a:lnTo>
                <a:close/>
              </a:path>
            </a:pathLst>
          </a:custGeom>
          <a:blipFill>
            <a:blip r:embed="rId5"/>
            <a:stretch>
              <a:fillRect/>
            </a:stretch>
          </a:blipFill>
        </p:spPr>
      </p:sp>
      <p:sp>
        <p:nvSpPr>
          <p:cNvPr id="5" name="Freeform 5"/>
          <p:cNvSpPr/>
          <p:nvPr/>
        </p:nvSpPr>
        <p:spPr>
          <a:xfrm>
            <a:off x="14033025" y="392505"/>
            <a:ext cx="4005414" cy="1770940"/>
          </a:xfrm>
          <a:custGeom>
            <a:avLst/>
            <a:gdLst/>
            <a:ahLst/>
            <a:cxnLst/>
            <a:rect l="l" t="t" r="r" b="b"/>
            <a:pathLst>
              <a:path w="4005414" h="1770940">
                <a:moveTo>
                  <a:pt x="0" y="0"/>
                </a:moveTo>
                <a:lnTo>
                  <a:pt x="4005414" y="0"/>
                </a:lnTo>
                <a:lnTo>
                  <a:pt x="4005414" y="1770939"/>
                </a:lnTo>
                <a:lnTo>
                  <a:pt x="0" y="1770939"/>
                </a:lnTo>
                <a:lnTo>
                  <a:pt x="0" y="0"/>
                </a:lnTo>
                <a:close/>
              </a:path>
            </a:pathLst>
          </a:custGeom>
          <a:blipFill>
            <a:blip r:embed="rId6"/>
            <a:stretch>
              <a:fillRect/>
            </a:stretch>
          </a:blipFill>
        </p:spPr>
      </p:sp>
      <p:sp>
        <p:nvSpPr>
          <p:cNvPr id="6" name="TextBox 6"/>
          <p:cNvSpPr txBox="1"/>
          <p:nvPr/>
        </p:nvSpPr>
        <p:spPr>
          <a:xfrm>
            <a:off x="2756463" y="1403119"/>
            <a:ext cx="12775073" cy="1029367"/>
          </a:xfrm>
          <a:prstGeom prst="rect">
            <a:avLst/>
          </a:prstGeom>
        </p:spPr>
        <p:txBody>
          <a:bodyPr lIns="0" tIns="0" rIns="0" bIns="0" rtlCol="0" anchor="t">
            <a:spAutoFit/>
          </a:bodyPr>
          <a:lstStyle/>
          <a:p>
            <a:pPr algn="ctr">
              <a:lnSpc>
                <a:spcPts val="6657"/>
              </a:lnSpc>
            </a:pPr>
            <a:r>
              <a:rPr lang="en-US" sz="6052" b="1">
                <a:solidFill>
                  <a:srgbClr val="FFFFFF"/>
                </a:solidFill>
                <a:latin typeface="Agrandir Narrow Bold"/>
                <a:ea typeface="Agrandir Narrow Bold"/>
                <a:cs typeface="Agrandir Narrow Bold"/>
                <a:sym typeface="Agrandir Narrow Bold"/>
              </a:rPr>
              <a:t>YOLOV5 LOSS FUNCTION</a:t>
            </a:r>
          </a:p>
        </p:txBody>
      </p:sp>
      <p:sp>
        <p:nvSpPr>
          <p:cNvPr id="7" name="TextBox 7"/>
          <p:cNvSpPr txBox="1"/>
          <p:nvPr/>
        </p:nvSpPr>
        <p:spPr>
          <a:xfrm>
            <a:off x="3150872" y="2694728"/>
            <a:ext cx="3376712" cy="590550"/>
          </a:xfrm>
          <a:prstGeom prst="rect">
            <a:avLst/>
          </a:prstGeom>
        </p:spPr>
        <p:txBody>
          <a:bodyPr lIns="0" tIns="0" rIns="0" bIns="0" rtlCol="0" anchor="t">
            <a:spAutoFit/>
          </a:bodyPr>
          <a:lstStyle/>
          <a:p>
            <a:pPr algn="ctr">
              <a:lnSpc>
                <a:spcPts val="3839"/>
              </a:lnSpc>
              <a:spcBef>
                <a:spcPct val="0"/>
              </a:spcBef>
            </a:pPr>
            <a:r>
              <a:rPr lang="en-US" sz="3199">
                <a:solidFill>
                  <a:srgbClr val="FFFFFF"/>
                </a:solidFill>
                <a:latin typeface="Agrandir Narrow"/>
                <a:ea typeface="Agrandir Narrow"/>
                <a:cs typeface="Agrandir Narrow"/>
                <a:sym typeface="Agrandir Narrow"/>
              </a:rPr>
              <a:t>On - Wave detector</a:t>
            </a:r>
          </a:p>
        </p:txBody>
      </p:sp>
      <p:sp>
        <p:nvSpPr>
          <p:cNvPr id="8" name="TextBox 8"/>
          <p:cNvSpPr txBox="1"/>
          <p:nvPr/>
        </p:nvSpPr>
        <p:spPr>
          <a:xfrm>
            <a:off x="11944269" y="2694728"/>
            <a:ext cx="3009007" cy="590550"/>
          </a:xfrm>
          <a:prstGeom prst="rect">
            <a:avLst/>
          </a:prstGeom>
        </p:spPr>
        <p:txBody>
          <a:bodyPr lIns="0" tIns="0" rIns="0" bIns="0" rtlCol="0" anchor="t">
            <a:spAutoFit/>
          </a:bodyPr>
          <a:lstStyle/>
          <a:p>
            <a:pPr algn="ctr">
              <a:lnSpc>
                <a:spcPts val="3839"/>
              </a:lnSpc>
              <a:spcBef>
                <a:spcPct val="0"/>
              </a:spcBef>
            </a:pPr>
            <a:r>
              <a:rPr lang="en-US" sz="3199">
                <a:solidFill>
                  <a:srgbClr val="FFFFFF"/>
                </a:solidFill>
                <a:latin typeface="Agrandir Narrow"/>
                <a:ea typeface="Agrandir Narrow"/>
                <a:cs typeface="Agrandir Narrow"/>
                <a:sym typeface="Agrandir Narrow"/>
              </a:rPr>
              <a:t>General detector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Freeform 3"/>
          <p:cNvSpPr/>
          <p:nvPr/>
        </p:nvSpPr>
        <p:spPr>
          <a:xfrm>
            <a:off x="3493371" y="3171971"/>
            <a:ext cx="11301259" cy="2684049"/>
          </a:xfrm>
          <a:custGeom>
            <a:avLst/>
            <a:gdLst/>
            <a:ahLst/>
            <a:cxnLst/>
            <a:rect l="l" t="t" r="r" b="b"/>
            <a:pathLst>
              <a:path w="11301259" h="2684049">
                <a:moveTo>
                  <a:pt x="0" y="0"/>
                </a:moveTo>
                <a:lnTo>
                  <a:pt x="11301258" y="0"/>
                </a:lnTo>
                <a:lnTo>
                  <a:pt x="11301258" y="2684049"/>
                </a:lnTo>
                <a:lnTo>
                  <a:pt x="0" y="2684049"/>
                </a:lnTo>
                <a:lnTo>
                  <a:pt x="0" y="0"/>
                </a:lnTo>
                <a:close/>
              </a:path>
            </a:pathLst>
          </a:custGeom>
          <a:blipFill>
            <a:blip r:embed="rId4"/>
            <a:stretch>
              <a:fillRect/>
            </a:stretch>
          </a:blipFill>
        </p:spPr>
      </p:sp>
      <p:sp>
        <p:nvSpPr>
          <p:cNvPr id="4" name="TextBox 4"/>
          <p:cNvSpPr txBox="1"/>
          <p:nvPr/>
        </p:nvSpPr>
        <p:spPr>
          <a:xfrm>
            <a:off x="2756463" y="1403119"/>
            <a:ext cx="12775073" cy="1029367"/>
          </a:xfrm>
          <a:prstGeom prst="rect">
            <a:avLst/>
          </a:prstGeom>
        </p:spPr>
        <p:txBody>
          <a:bodyPr lIns="0" tIns="0" rIns="0" bIns="0" rtlCol="0" anchor="t">
            <a:spAutoFit/>
          </a:bodyPr>
          <a:lstStyle/>
          <a:p>
            <a:pPr algn="ctr">
              <a:lnSpc>
                <a:spcPts val="6657"/>
              </a:lnSpc>
            </a:pPr>
            <a:r>
              <a:rPr lang="en-US" sz="6052" b="1">
                <a:solidFill>
                  <a:srgbClr val="FFFFFF"/>
                </a:solidFill>
                <a:latin typeface="Agrandir Narrow Bold"/>
                <a:ea typeface="Agrandir Narrow Bold"/>
                <a:cs typeface="Agrandir Narrow Bold"/>
                <a:sym typeface="Agrandir Narrow Bold"/>
              </a:rPr>
              <a:t>YOLOV5 WITH DEEPSORT</a:t>
            </a:r>
          </a:p>
        </p:txBody>
      </p:sp>
      <p:sp>
        <p:nvSpPr>
          <p:cNvPr id="5" name="TextBox 5"/>
          <p:cNvSpPr txBox="1"/>
          <p:nvPr/>
        </p:nvSpPr>
        <p:spPr>
          <a:xfrm>
            <a:off x="3493371" y="5817920"/>
            <a:ext cx="12209607" cy="1507618"/>
          </a:xfrm>
          <a:prstGeom prst="rect">
            <a:avLst/>
          </a:prstGeom>
        </p:spPr>
        <p:txBody>
          <a:bodyPr lIns="0" tIns="0" rIns="0" bIns="0" rtlCol="0" anchor="t">
            <a:spAutoFit/>
          </a:bodyPr>
          <a:lstStyle/>
          <a:p>
            <a:pPr marL="0" lvl="0" indent="0" algn="l">
              <a:lnSpc>
                <a:spcPts val="2162"/>
              </a:lnSpc>
            </a:pPr>
            <a:endParaRPr/>
          </a:p>
          <a:p>
            <a:pPr marL="0" lvl="0" indent="0" algn="l">
              <a:lnSpc>
                <a:spcPts val="2162"/>
              </a:lnSpc>
            </a:pPr>
            <a:r>
              <a:rPr lang="en-US" sz="1544" u="none" spc="92">
                <a:solidFill>
                  <a:srgbClr val="FFFFFF"/>
                </a:solidFill>
                <a:latin typeface="Inter"/>
                <a:ea typeface="Inter"/>
                <a:cs typeface="Inter"/>
                <a:sym typeface="Inter"/>
              </a:rPr>
              <a:t>Challenges:</a:t>
            </a:r>
          </a:p>
          <a:p>
            <a:pPr marL="333557" lvl="1" indent="-166779" algn="l">
              <a:lnSpc>
                <a:spcPts val="2162"/>
              </a:lnSpc>
              <a:buFont typeface="Arial"/>
              <a:buChar char="•"/>
            </a:pPr>
            <a:r>
              <a:rPr lang="en-US" sz="1544" u="none" spc="92">
                <a:solidFill>
                  <a:srgbClr val="FFFFFF"/>
                </a:solidFill>
                <a:latin typeface="Inter"/>
                <a:ea typeface="Inter"/>
                <a:cs typeface="Inter"/>
                <a:sym typeface="Inter"/>
              </a:rPr>
              <a:t>Only five surfers were showing up with bounding boxes</a:t>
            </a:r>
          </a:p>
          <a:p>
            <a:pPr marL="333557" lvl="1" indent="-166779" algn="l">
              <a:lnSpc>
                <a:spcPts val="2162"/>
              </a:lnSpc>
              <a:buFont typeface="Arial"/>
              <a:buChar char="•"/>
            </a:pPr>
            <a:r>
              <a:rPr lang="en-US" sz="1544" u="none" spc="92">
                <a:solidFill>
                  <a:srgbClr val="FFFFFF"/>
                </a:solidFill>
                <a:latin typeface="Inter"/>
                <a:ea typeface="Inter"/>
                <a:cs typeface="Inter"/>
                <a:sym typeface="Inter"/>
              </a:rPr>
              <a:t>Not accurately tracking all the surfers</a:t>
            </a:r>
          </a:p>
          <a:p>
            <a:pPr marL="0" lvl="0" indent="0" algn="l">
              <a:lnSpc>
                <a:spcPts val="1742"/>
              </a:lnSpc>
            </a:pPr>
            <a:endParaRPr lang="en-US" sz="1544" u="none" spc="92">
              <a:solidFill>
                <a:srgbClr val="FFFFFF"/>
              </a:solidFill>
              <a:latin typeface="Inter"/>
              <a:ea typeface="Inter"/>
              <a:cs typeface="Inter"/>
              <a:sym typeface="Inter"/>
            </a:endParaRPr>
          </a:p>
          <a:p>
            <a:pPr marL="0" lvl="0" indent="0" algn="l">
              <a:lnSpc>
                <a:spcPts val="1742"/>
              </a:lnSpc>
            </a:pPr>
            <a:endParaRPr lang="en-US" sz="1544" u="none" spc="92">
              <a:solidFill>
                <a:srgbClr val="FFFFFF"/>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TextBox 3"/>
          <p:cNvSpPr txBox="1"/>
          <p:nvPr/>
        </p:nvSpPr>
        <p:spPr>
          <a:xfrm>
            <a:off x="513977" y="453488"/>
            <a:ext cx="15134046" cy="1036124"/>
          </a:xfrm>
          <a:prstGeom prst="rect">
            <a:avLst/>
          </a:prstGeom>
        </p:spPr>
        <p:txBody>
          <a:bodyPr lIns="0" tIns="0" rIns="0" bIns="0" rtlCol="0" anchor="t">
            <a:spAutoFit/>
          </a:bodyPr>
          <a:lstStyle/>
          <a:p>
            <a:pPr algn="l">
              <a:lnSpc>
                <a:spcPts val="6657"/>
              </a:lnSpc>
            </a:pPr>
            <a:r>
              <a:rPr lang="en-US" sz="6052" b="1">
                <a:solidFill>
                  <a:srgbClr val="214492"/>
                </a:solidFill>
                <a:latin typeface="Agrandir Narrow Bold"/>
                <a:ea typeface="Agrandir Narrow Bold"/>
                <a:cs typeface="Agrandir Narrow Bold"/>
                <a:sym typeface="Agrandir Narrow Bold"/>
              </a:rPr>
              <a:t>VIDEO RESULTS</a:t>
            </a:r>
          </a:p>
        </p:txBody>
      </p:sp>
      <p:sp>
        <p:nvSpPr>
          <p:cNvPr id="4" name="TextBox 4"/>
          <p:cNvSpPr txBox="1"/>
          <p:nvPr/>
        </p:nvSpPr>
        <p:spPr>
          <a:xfrm>
            <a:off x="14039882" y="2751830"/>
            <a:ext cx="3734452" cy="2501265"/>
          </a:xfrm>
          <a:prstGeom prst="rect">
            <a:avLst/>
          </a:prstGeom>
        </p:spPr>
        <p:txBody>
          <a:bodyPr lIns="0" tIns="0" rIns="0" bIns="0" rtlCol="0" anchor="t">
            <a:spAutoFit/>
          </a:bodyPr>
          <a:lstStyle/>
          <a:p>
            <a:pPr marL="518157" lvl="1" indent="-259078" algn="l">
              <a:lnSpc>
                <a:spcPts val="3359"/>
              </a:lnSpc>
              <a:buFont typeface="Arial"/>
              <a:buChar char="•"/>
            </a:pPr>
            <a:r>
              <a:rPr lang="en-US" sz="2399" spc="7">
                <a:solidFill>
                  <a:srgbClr val="214492"/>
                </a:solidFill>
                <a:latin typeface="Inter"/>
                <a:ea typeface="Inter"/>
                <a:cs typeface="Inter"/>
                <a:sym typeface="Inter"/>
              </a:rPr>
              <a:t>Used best.pt (best weights from general detection dataset 1.1)</a:t>
            </a:r>
          </a:p>
          <a:p>
            <a:pPr marL="518157" lvl="1" indent="-259078" algn="l">
              <a:lnSpc>
                <a:spcPts val="3359"/>
              </a:lnSpc>
              <a:buFont typeface="Arial"/>
              <a:buChar char="•"/>
            </a:pPr>
            <a:r>
              <a:rPr lang="en-US" sz="2399" u="none" spc="7">
                <a:solidFill>
                  <a:srgbClr val="214492"/>
                </a:solidFill>
                <a:latin typeface="Inter"/>
                <a:ea typeface="Inter"/>
                <a:cs typeface="Inter"/>
                <a:sym typeface="Inter"/>
              </a:rPr>
              <a:t>Used DeepSORT</a:t>
            </a:r>
          </a:p>
          <a:p>
            <a:pPr marL="518157" lvl="1" indent="-259078" algn="l">
              <a:lnSpc>
                <a:spcPts val="3359"/>
              </a:lnSpc>
              <a:buFont typeface="Arial"/>
              <a:buChar char="•"/>
            </a:pPr>
            <a:r>
              <a:rPr lang="en-US" sz="2399" u="none" spc="7">
                <a:solidFill>
                  <a:srgbClr val="214492"/>
                </a:solidFill>
                <a:latin typeface="Inter"/>
                <a:ea typeface="Inter"/>
                <a:cs typeface="Inter"/>
                <a:sym typeface="Inter"/>
              </a:rPr>
              <a:t>Challenges</a:t>
            </a:r>
          </a:p>
          <a:p>
            <a:pPr marL="1036314" lvl="2" indent="-345438" algn="l">
              <a:lnSpc>
                <a:spcPts val="3359"/>
              </a:lnSpc>
              <a:buFont typeface="Arial"/>
              <a:buChar char="⚬"/>
            </a:pPr>
            <a:r>
              <a:rPr lang="en-US" sz="2399" u="none" spc="7">
                <a:solidFill>
                  <a:srgbClr val="214492"/>
                </a:solidFill>
                <a:latin typeface="Inter"/>
                <a:ea typeface="Inter"/>
                <a:cs typeface="Inter"/>
                <a:sym typeface="Inter"/>
              </a:rPr>
              <a:t>Not that accurate</a:t>
            </a:r>
          </a:p>
        </p:txBody>
      </p:sp>
      <p:grpSp>
        <p:nvGrpSpPr>
          <p:cNvPr id="5" name="Group 5"/>
          <p:cNvGrpSpPr/>
          <p:nvPr/>
        </p:nvGrpSpPr>
        <p:grpSpPr>
          <a:xfrm>
            <a:off x="136763" y="1775612"/>
            <a:ext cx="13903120" cy="7797315"/>
            <a:chOff x="0" y="0"/>
            <a:chExt cx="1449275" cy="812800"/>
          </a:xfrm>
        </p:grpSpPr>
        <p:sp>
          <p:nvSpPr>
            <p:cNvPr id="6" name="Freeform 6"/>
            <p:cNvSpPr/>
            <p:nvPr/>
          </p:nvSpPr>
          <p:spPr>
            <a:xfrm>
              <a:off x="0" y="0"/>
              <a:ext cx="1449275" cy="812800"/>
            </a:xfrm>
            <a:custGeom>
              <a:avLst/>
              <a:gdLst/>
              <a:ahLst/>
              <a:cxnLst/>
              <a:rect l="l" t="t" r="r" b="b"/>
              <a:pathLst>
                <a:path w="1449275" h="812800">
                  <a:moveTo>
                    <a:pt x="0" y="0"/>
                  </a:moveTo>
                  <a:lnTo>
                    <a:pt x="1449275" y="0"/>
                  </a:lnTo>
                  <a:lnTo>
                    <a:pt x="1449275" y="812800"/>
                  </a:lnTo>
                  <a:lnTo>
                    <a:pt x="0" y="812800"/>
                  </a:lnTo>
                  <a:close/>
                </a:path>
              </a:pathLst>
            </a:custGeom>
            <a:blipFill>
              <a:blip r:embed="rId4"/>
              <a:stretch>
                <a:fillRect t="-148" b="-148"/>
              </a:stretch>
            </a:blipFill>
          </p:spPr>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6666" b="-16666"/>
            </a:stretch>
          </a:blipFill>
        </p:spPr>
      </p:sp>
      <p:sp>
        <p:nvSpPr>
          <p:cNvPr id="3" name="Freeform 3"/>
          <p:cNvSpPr/>
          <p:nvPr/>
        </p:nvSpPr>
        <p:spPr>
          <a:xfrm>
            <a:off x="15237556" y="3099229"/>
            <a:ext cx="2198317" cy="2198317"/>
          </a:xfrm>
          <a:custGeom>
            <a:avLst/>
            <a:gdLst/>
            <a:ahLst/>
            <a:cxnLst/>
            <a:rect l="l" t="t" r="r" b="b"/>
            <a:pathLst>
              <a:path w="2198317" h="2198317">
                <a:moveTo>
                  <a:pt x="0" y="0"/>
                </a:moveTo>
                <a:lnTo>
                  <a:pt x="2198317" y="0"/>
                </a:lnTo>
                <a:lnTo>
                  <a:pt x="2198317" y="2198317"/>
                </a:lnTo>
                <a:lnTo>
                  <a:pt x="0" y="2198317"/>
                </a:lnTo>
                <a:lnTo>
                  <a:pt x="0" y="0"/>
                </a:lnTo>
                <a:close/>
              </a:path>
            </a:pathLst>
          </a:custGeom>
          <a:blipFill>
            <a:blip r:embed="rId4"/>
            <a:stretch>
              <a:fillRect/>
            </a:stretch>
          </a:blipFill>
        </p:spPr>
      </p:sp>
      <p:sp>
        <p:nvSpPr>
          <p:cNvPr id="4" name="TextBox 4"/>
          <p:cNvSpPr txBox="1"/>
          <p:nvPr/>
        </p:nvSpPr>
        <p:spPr>
          <a:xfrm>
            <a:off x="-489902" y="456882"/>
            <a:ext cx="12775073" cy="1029335"/>
          </a:xfrm>
          <a:prstGeom prst="rect">
            <a:avLst/>
          </a:prstGeom>
        </p:spPr>
        <p:txBody>
          <a:bodyPr lIns="0" tIns="0" rIns="0" bIns="0" rtlCol="0" anchor="t">
            <a:spAutoFit/>
          </a:bodyPr>
          <a:lstStyle/>
          <a:p>
            <a:pPr algn="ctr">
              <a:lnSpc>
                <a:spcPts val="6655"/>
              </a:lnSpc>
            </a:pPr>
            <a:r>
              <a:rPr lang="en-US" sz="6050" b="1">
                <a:solidFill>
                  <a:srgbClr val="FFFFFF"/>
                </a:solidFill>
                <a:latin typeface="Agrandir Narrow Bold"/>
                <a:ea typeface="Agrandir Narrow Bold"/>
                <a:cs typeface="Agrandir Narrow Bold"/>
                <a:sym typeface="Agrandir Narrow Bold"/>
              </a:rPr>
              <a:t>TAKEAWAYS AND LIMITIONS </a:t>
            </a:r>
          </a:p>
        </p:txBody>
      </p:sp>
      <p:sp>
        <p:nvSpPr>
          <p:cNvPr id="5" name="TextBox 5"/>
          <p:cNvSpPr txBox="1"/>
          <p:nvPr/>
        </p:nvSpPr>
        <p:spPr>
          <a:xfrm>
            <a:off x="531160" y="2512319"/>
            <a:ext cx="17225679" cy="4826107"/>
          </a:xfrm>
          <a:prstGeom prst="rect">
            <a:avLst/>
          </a:prstGeom>
        </p:spPr>
        <p:txBody>
          <a:bodyPr lIns="0" tIns="0" rIns="0" bIns="0" rtlCol="0" anchor="t">
            <a:spAutoFit/>
          </a:bodyPr>
          <a:lstStyle/>
          <a:p>
            <a:pPr algn="l">
              <a:lnSpc>
                <a:spcPts val="3822"/>
              </a:lnSpc>
            </a:pPr>
            <a:r>
              <a:rPr lang="en-US" sz="3185">
                <a:solidFill>
                  <a:srgbClr val="FFFFFF"/>
                </a:solidFill>
                <a:latin typeface="Inter"/>
                <a:ea typeface="Inter"/>
                <a:cs typeface="Inter"/>
                <a:sym typeface="Inter"/>
              </a:rPr>
              <a:t>Scalability: </a:t>
            </a:r>
          </a:p>
          <a:p>
            <a:pPr algn="l">
              <a:lnSpc>
                <a:spcPts val="3822"/>
              </a:lnSpc>
            </a:pPr>
            <a:r>
              <a:rPr lang="en-US" sz="3185">
                <a:solidFill>
                  <a:srgbClr val="FFFFFF"/>
                </a:solidFill>
                <a:latin typeface="Inter"/>
                <a:ea typeface="Inter"/>
                <a:cs typeface="Inter"/>
                <a:sym typeface="Inter"/>
              </a:rPr>
              <a:t> → Once trained, it can be used on any video, including real surfing footage.</a:t>
            </a:r>
          </a:p>
          <a:p>
            <a:pPr algn="l">
              <a:lnSpc>
                <a:spcPts val="3822"/>
              </a:lnSpc>
            </a:pPr>
            <a:endParaRPr lang="en-US" sz="3185">
              <a:solidFill>
                <a:srgbClr val="FFFFFF"/>
              </a:solidFill>
              <a:latin typeface="Inter"/>
              <a:ea typeface="Inter"/>
              <a:cs typeface="Inter"/>
              <a:sym typeface="Inter"/>
            </a:endParaRPr>
          </a:p>
          <a:p>
            <a:pPr algn="l">
              <a:lnSpc>
                <a:spcPts val="3822"/>
              </a:lnSpc>
            </a:pPr>
            <a:endParaRPr lang="en-US" sz="3185">
              <a:solidFill>
                <a:srgbClr val="FFFFFF"/>
              </a:solidFill>
              <a:latin typeface="Inter"/>
              <a:ea typeface="Inter"/>
              <a:cs typeface="Inter"/>
              <a:sym typeface="Inter"/>
            </a:endParaRPr>
          </a:p>
          <a:p>
            <a:pPr algn="l">
              <a:lnSpc>
                <a:spcPts val="3822"/>
              </a:lnSpc>
              <a:spcBef>
                <a:spcPct val="0"/>
              </a:spcBef>
            </a:pPr>
            <a:r>
              <a:rPr lang="en-US" sz="3185">
                <a:solidFill>
                  <a:srgbClr val="FFFFFF"/>
                </a:solidFill>
                <a:latin typeface="Inter"/>
                <a:ea typeface="Inter"/>
                <a:cs typeface="Inter"/>
                <a:sym typeface="Inter"/>
              </a:rPr>
              <a:t>Training Time Was Extremely Long：                                                                                                                                     </a:t>
            </a:r>
          </a:p>
          <a:p>
            <a:pPr algn="l">
              <a:lnSpc>
                <a:spcPts val="3822"/>
              </a:lnSpc>
              <a:spcBef>
                <a:spcPct val="0"/>
              </a:spcBef>
            </a:pPr>
            <a:r>
              <a:rPr lang="en-US" sz="3185">
                <a:solidFill>
                  <a:srgbClr val="FFFFFF"/>
                </a:solidFill>
                <a:latin typeface="Inter"/>
                <a:ea typeface="Inter"/>
                <a:cs typeface="Inter"/>
                <a:sym typeface="Inter"/>
              </a:rPr>
              <a:t> → Training and testing took a lot of time when image resolution was high.</a:t>
            </a:r>
          </a:p>
          <a:p>
            <a:pPr algn="l">
              <a:lnSpc>
                <a:spcPts val="3822"/>
              </a:lnSpc>
              <a:spcBef>
                <a:spcPct val="0"/>
              </a:spcBef>
            </a:pPr>
            <a:endParaRPr lang="en-US" sz="3185">
              <a:solidFill>
                <a:srgbClr val="FFFFFF"/>
              </a:solidFill>
              <a:latin typeface="Inter"/>
              <a:ea typeface="Inter"/>
              <a:cs typeface="Inter"/>
              <a:sym typeface="Inter"/>
            </a:endParaRPr>
          </a:p>
          <a:p>
            <a:pPr algn="l">
              <a:lnSpc>
                <a:spcPts val="3822"/>
              </a:lnSpc>
              <a:spcBef>
                <a:spcPct val="0"/>
              </a:spcBef>
            </a:pPr>
            <a:r>
              <a:rPr lang="en-US" sz="3185">
                <a:solidFill>
                  <a:srgbClr val="FFFFFF"/>
                </a:solidFill>
                <a:latin typeface="Inter"/>
                <a:ea typeface="Inter"/>
                <a:cs typeface="Inter"/>
                <a:sym typeface="Inter"/>
              </a:rPr>
              <a:t>One-Class Detection:</a:t>
            </a:r>
          </a:p>
          <a:p>
            <a:pPr algn="l">
              <a:lnSpc>
                <a:spcPts val="3822"/>
              </a:lnSpc>
              <a:spcBef>
                <a:spcPct val="0"/>
              </a:spcBef>
            </a:pPr>
            <a:r>
              <a:rPr lang="en-US" sz="3185">
                <a:solidFill>
                  <a:srgbClr val="FFFFFF"/>
                </a:solidFill>
                <a:latin typeface="Inter"/>
                <a:ea typeface="Inter"/>
                <a:cs typeface="Inter"/>
                <a:sym typeface="Inter"/>
              </a:rPr>
              <a:t> → We only trained the model to detect “surfer” (class 0), so other important objects (like boards, waves) were ignored.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3076319" y="3421806"/>
            <a:ext cx="12135362" cy="1787590"/>
          </a:xfrm>
          <a:prstGeom prst="rect">
            <a:avLst/>
          </a:prstGeom>
        </p:spPr>
        <p:txBody>
          <a:bodyPr lIns="0" tIns="0" rIns="0" bIns="0" rtlCol="0" anchor="t">
            <a:spAutoFit/>
          </a:bodyPr>
          <a:lstStyle/>
          <a:p>
            <a:pPr algn="ctr">
              <a:lnSpc>
                <a:spcPts val="11415"/>
              </a:lnSpc>
            </a:pPr>
            <a:r>
              <a:rPr lang="en-US" sz="10377" b="1">
                <a:solidFill>
                  <a:srgbClr val="FFFFFF"/>
                </a:solidFill>
                <a:latin typeface="Agrandir Grand Heavy"/>
                <a:ea typeface="Agrandir Grand Heavy"/>
                <a:cs typeface="Agrandir Grand Heavy"/>
                <a:sym typeface="Agrandir Grand Heavy"/>
              </a:rPr>
              <a:t>THANK YOU!</a:t>
            </a:r>
          </a:p>
        </p:txBody>
      </p:sp>
      <p:grpSp>
        <p:nvGrpSpPr>
          <p:cNvPr id="4" name="Group 4"/>
          <p:cNvGrpSpPr/>
          <p:nvPr/>
        </p:nvGrpSpPr>
        <p:grpSpPr>
          <a:xfrm>
            <a:off x="6309236" y="8861441"/>
            <a:ext cx="5669527" cy="793718"/>
            <a:chOff x="0" y="0"/>
            <a:chExt cx="1493209" cy="209045"/>
          </a:xfrm>
        </p:grpSpPr>
        <p:sp>
          <p:nvSpPr>
            <p:cNvPr id="5" name="Freeform 5"/>
            <p:cNvSpPr/>
            <p:nvPr/>
          </p:nvSpPr>
          <p:spPr>
            <a:xfrm>
              <a:off x="0" y="0"/>
              <a:ext cx="1493209" cy="209045"/>
            </a:xfrm>
            <a:custGeom>
              <a:avLst/>
              <a:gdLst/>
              <a:ahLst/>
              <a:cxnLst/>
              <a:rect l="l" t="t" r="r" b="b"/>
              <a:pathLst>
                <a:path w="1493209" h="209045">
                  <a:moveTo>
                    <a:pt x="69642" y="0"/>
                  </a:moveTo>
                  <a:lnTo>
                    <a:pt x="1423567" y="0"/>
                  </a:lnTo>
                  <a:cubicBezTo>
                    <a:pt x="1462029" y="0"/>
                    <a:pt x="1493209" y="31180"/>
                    <a:pt x="1493209" y="69642"/>
                  </a:cubicBezTo>
                  <a:lnTo>
                    <a:pt x="1493209" y="139403"/>
                  </a:lnTo>
                  <a:cubicBezTo>
                    <a:pt x="1493209" y="177865"/>
                    <a:pt x="1462029" y="209045"/>
                    <a:pt x="1423567" y="209045"/>
                  </a:cubicBezTo>
                  <a:lnTo>
                    <a:pt x="69642" y="209045"/>
                  </a:lnTo>
                  <a:cubicBezTo>
                    <a:pt x="31180" y="209045"/>
                    <a:pt x="0" y="177865"/>
                    <a:pt x="0" y="139403"/>
                  </a:cubicBezTo>
                  <a:lnTo>
                    <a:pt x="0" y="69642"/>
                  </a:lnTo>
                  <a:cubicBezTo>
                    <a:pt x="0" y="31180"/>
                    <a:pt x="31180" y="0"/>
                    <a:pt x="69642" y="0"/>
                  </a:cubicBezTo>
                  <a:close/>
                </a:path>
              </a:pathLst>
            </a:custGeom>
            <a:solidFill>
              <a:srgbClr val="000000">
                <a:alpha val="0"/>
              </a:srgbClr>
            </a:solidFill>
            <a:ln w="19050" cap="rnd">
              <a:solidFill>
                <a:srgbClr val="FFFFFF"/>
              </a:solidFill>
              <a:prstDash val="solid"/>
              <a:round/>
            </a:ln>
          </p:spPr>
        </p:sp>
        <p:sp>
          <p:nvSpPr>
            <p:cNvPr id="6" name="TextBox 6"/>
            <p:cNvSpPr txBox="1"/>
            <p:nvPr/>
          </p:nvSpPr>
          <p:spPr>
            <a:xfrm>
              <a:off x="0" y="-38100"/>
              <a:ext cx="1493209" cy="24714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6889493" y="8903335"/>
            <a:ext cx="4509014" cy="567055"/>
          </a:xfrm>
          <a:prstGeom prst="rect">
            <a:avLst/>
          </a:prstGeom>
        </p:spPr>
        <p:txBody>
          <a:bodyPr lIns="0" tIns="0" rIns="0" bIns="0" rtlCol="0" anchor="t">
            <a:spAutoFit/>
          </a:bodyPr>
          <a:lstStyle/>
          <a:p>
            <a:pPr algn="ctr">
              <a:lnSpc>
                <a:spcPts val="3919"/>
              </a:lnSpc>
              <a:spcBef>
                <a:spcPct val="0"/>
              </a:spcBef>
            </a:pPr>
            <a:r>
              <a:rPr lang="en-US" sz="2799" b="1" spc="109">
                <a:solidFill>
                  <a:srgbClr val="FFFFFF"/>
                </a:solidFill>
                <a:latin typeface="Agrandir Narrow Bold"/>
                <a:ea typeface="Agrandir Narrow Bold"/>
                <a:cs typeface="Agrandir Narrow Bold"/>
                <a:sym typeface="Agrandir Narrow Bold"/>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22</Slides>
  <Notes>21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Surfer tracking DS4440 final project</dc:title>
  <cp:revision>3</cp:revision>
  <dcterms:created xsi:type="dcterms:W3CDTF">2006-08-16T00:00:00Z</dcterms:created>
  <dcterms:modified xsi:type="dcterms:W3CDTF">2025-04-15T12:24:11Z</dcterms:modified>
  <dc:identifier>DAGkbypi33Y</dc:identifier>
</cp:coreProperties>
</file>